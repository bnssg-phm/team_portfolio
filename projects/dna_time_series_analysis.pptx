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  <p:sldMasterId id="2147483684" r:id="rId5"/>
    <p:sldMasterId id="2147483681" r:id="rId6"/>
    <p:sldMasterId id="2147483678" r:id="rId7"/>
  </p:sldMasterIdLst>
  <p:notesMasterIdLst>
    <p:notesMasterId r:id="rId20"/>
  </p:notesMasterIdLst>
  <p:sldIdLst>
    <p:sldId id="339" r:id="rId8"/>
    <p:sldId id="349" r:id="rId9"/>
    <p:sldId id="333" r:id="rId10"/>
    <p:sldId id="322" r:id="rId11"/>
    <p:sldId id="326" r:id="rId12"/>
    <p:sldId id="316" r:id="rId13"/>
    <p:sldId id="317" r:id="rId14"/>
    <p:sldId id="318" r:id="rId15"/>
    <p:sldId id="319" r:id="rId16"/>
    <p:sldId id="320" r:id="rId17"/>
    <p:sldId id="324" r:id="rId18"/>
    <p:sldId id="269" r:id="rId19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E7697-CAA0-1742-857D-B67FD3D2B4D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8DBF2-496B-A842-8775-F438C7EE6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7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A752-DD76-54E4-C26F-FE24EA40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C1F50-191E-913C-3081-63BCA0B7F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3B802-CDD8-7147-5C60-F2D38C49E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EA36F-F641-6E58-329B-AF98BEC5C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2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D099-003C-48EA-7BD0-851B40FD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D8E9D-180A-E91E-FF20-EAD228086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2DE98-3A90-6355-38FC-7877A2222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F80B-6B4F-EF94-6E8D-974DFB03B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39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50A9-F36C-A876-8484-C379E239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68A37-DE0D-A9CF-F1AB-55FD70324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1B5E-5C91-1977-F1CF-BA71A9826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55938-7965-3A84-2198-6CF43574C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56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53D-E5A0-99EF-F225-E08E7F61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8FBDF-E224-71C6-5BA7-D157F26B0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1B589-7CE4-0908-DC0D-06882B16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DBB4A-A928-595B-9E4E-1F400D3B2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42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8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/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82474" y="631456"/>
            <a:ext cx="2256652" cy="7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/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82474" y="631456"/>
            <a:ext cx="2256652" cy="749140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B59CAEA-0C91-384B-37F6-3CDFB7A40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2733" y="1935117"/>
            <a:ext cx="5509267" cy="4850216"/>
          </a:xfrm>
          <a:custGeom>
            <a:avLst/>
            <a:gdLst>
              <a:gd name="connsiteX0" fmla="*/ 4125218 w 5509267"/>
              <a:gd name="connsiteY0" fmla="*/ 0 h 4850216"/>
              <a:gd name="connsiteX1" fmla="*/ 5509267 w 5509267"/>
              <a:gd name="connsiteY1" fmla="*/ 0 h 4850216"/>
              <a:gd name="connsiteX2" fmla="*/ 5509267 w 5509267"/>
              <a:gd name="connsiteY2" fmla="*/ 1025249 h 4850216"/>
              <a:gd name="connsiteX3" fmla="*/ 5509267 w 5509267"/>
              <a:gd name="connsiteY3" fmla="*/ 2064733 h 4850216"/>
              <a:gd name="connsiteX4" fmla="*/ 5509267 w 5509267"/>
              <a:gd name="connsiteY4" fmla="*/ 4850216 h 4850216"/>
              <a:gd name="connsiteX5" fmla="*/ 64707 w 5509267"/>
              <a:gd name="connsiteY5" fmla="*/ 4850216 h 4850216"/>
              <a:gd name="connsiteX6" fmla="*/ 0 w 5509267"/>
              <a:gd name="connsiteY6" fmla="*/ 4119462 h 4850216"/>
              <a:gd name="connsiteX7" fmla="*/ 4125218 w 5509267"/>
              <a:gd name="connsiteY7" fmla="*/ 0 h 485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09267" h="4850216">
                <a:moveTo>
                  <a:pt x="4125218" y="0"/>
                </a:moveTo>
                <a:cubicBezTo>
                  <a:pt x="4496940" y="0"/>
                  <a:pt x="4972933" y="0"/>
                  <a:pt x="5509267" y="0"/>
                </a:cubicBezTo>
                <a:lnTo>
                  <a:pt x="5509267" y="1025249"/>
                </a:lnTo>
                <a:lnTo>
                  <a:pt x="5509267" y="2064733"/>
                </a:lnTo>
                <a:lnTo>
                  <a:pt x="5509267" y="4850216"/>
                </a:lnTo>
                <a:lnTo>
                  <a:pt x="64707" y="4850216"/>
                </a:lnTo>
                <a:cubicBezTo>
                  <a:pt x="22190" y="4613050"/>
                  <a:pt x="0" y="4368844"/>
                  <a:pt x="0" y="4119462"/>
                </a:cubicBezTo>
                <a:cubicBezTo>
                  <a:pt x="0" y="1844346"/>
                  <a:pt x="1846923" y="0"/>
                  <a:pt x="41252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0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551F9C-AA06-206B-3DFC-247E8F8AC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87596" y="631456"/>
            <a:ext cx="2034416" cy="7491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73D8B9C-A232-8A25-D920-8CE1CD4DFF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0605" y="809162"/>
            <a:ext cx="2870789" cy="6295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>
                <a:solidFill>
                  <a:schemeClr val="bg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B59CAEA-0C91-384B-37F6-3CDFB7A40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2733" y="1935112"/>
            <a:ext cx="5509267" cy="4850216"/>
          </a:xfrm>
          <a:custGeom>
            <a:avLst/>
            <a:gdLst>
              <a:gd name="connsiteX0" fmla="*/ 4125218 w 5509267"/>
              <a:gd name="connsiteY0" fmla="*/ 0 h 4850216"/>
              <a:gd name="connsiteX1" fmla="*/ 5509267 w 5509267"/>
              <a:gd name="connsiteY1" fmla="*/ 0 h 4850216"/>
              <a:gd name="connsiteX2" fmla="*/ 5509267 w 5509267"/>
              <a:gd name="connsiteY2" fmla="*/ 1025249 h 4850216"/>
              <a:gd name="connsiteX3" fmla="*/ 5509267 w 5509267"/>
              <a:gd name="connsiteY3" fmla="*/ 2064733 h 4850216"/>
              <a:gd name="connsiteX4" fmla="*/ 5509267 w 5509267"/>
              <a:gd name="connsiteY4" fmla="*/ 4850216 h 4850216"/>
              <a:gd name="connsiteX5" fmla="*/ 64707 w 5509267"/>
              <a:gd name="connsiteY5" fmla="*/ 4850216 h 4850216"/>
              <a:gd name="connsiteX6" fmla="*/ 0 w 5509267"/>
              <a:gd name="connsiteY6" fmla="*/ 4119462 h 4850216"/>
              <a:gd name="connsiteX7" fmla="*/ 4125218 w 5509267"/>
              <a:gd name="connsiteY7" fmla="*/ 0 h 485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09267" h="4850216">
                <a:moveTo>
                  <a:pt x="4125218" y="0"/>
                </a:moveTo>
                <a:cubicBezTo>
                  <a:pt x="4496940" y="0"/>
                  <a:pt x="4972933" y="0"/>
                  <a:pt x="5509267" y="0"/>
                </a:cubicBezTo>
                <a:lnTo>
                  <a:pt x="5509267" y="1025249"/>
                </a:lnTo>
                <a:lnTo>
                  <a:pt x="5509267" y="2064733"/>
                </a:lnTo>
                <a:lnTo>
                  <a:pt x="5509267" y="4850216"/>
                </a:lnTo>
                <a:lnTo>
                  <a:pt x="64707" y="4850216"/>
                </a:lnTo>
                <a:cubicBezTo>
                  <a:pt x="22190" y="4613050"/>
                  <a:pt x="0" y="4368844"/>
                  <a:pt x="0" y="4119462"/>
                </a:cubicBezTo>
                <a:cubicBezTo>
                  <a:pt x="0" y="1844346"/>
                  <a:pt x="1846923" y="0"/>
                  <a:pt x="41252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4D8EA-A672-6846-C041-D5AC363BC948}"/>
              </a:ext>
            </a:extLst>
          </p:cNvPr>
          <p:cNvSpPr txBox="1"/>
          <p:nvPr userDrawn="1"/>
        </p:nvSpPr>
        <p:spPr>
          <a:xfrm>
            <a:off x="3295291" y="6788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D41D9-6B96-63AC-C1DD-A2840AB547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2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9E9807-481F-789A-A4A4-18908DDAA257}"/>
              </a:ext>
            </a:extLst>
          </p:cNvPr>
          <p:cNvSpPr txBox="1"/>
          <p:nvPr userDrawn="1"/>
        </p:nvSpPr>
        <p:spPr>
          <a:xfrm>
            <a:off x="673694" y="2515317"/>
            <a:ext cx="5734228" cy="895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800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5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1349BE-906A-ADCF-254A-90974832D6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578" y="4280572"/>
            <a:ext cx="5327709" cy="751898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5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Placeholder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CA63458-9D1B-FB23-96E4-5BE3EFB192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577" y="4531523"/>
            <a:ext cx="5327709" cy="512897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placeholderemail@healthiertogther.org</a:t>
            </a:r>
            <a:endParaRPr lang="en-GB"/>
          </a:p>
          <a:p>
            <a:pPr lvl="0"/>
            <a:r>
              <a:rPr lang="en-GB"/>
              <a:t>01234567890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A58167-8AEE-B552-476D-68E309DA2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534328-D49C-520D-1788-15A143AC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82475" y="631456"/>
            <a:ext cx="2256652" cy="7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9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670" y="2102049"/>
            <a:ext cx="5573746" cy="1677243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a section slide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395" y="3992037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50605" y="809162"/>
            <a:ext cx="2870789" cy="629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87596" y="631456"/>
            <a:ext cx="2034416" cy="74914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E91CEAF-FF6E-8FD5-BFDA-E38D01BC48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86893" y="1650309"/>
            <a:ext cx="6001412" cy="5140114"/>
          </a:xfrm>
          <a:custGeom>
            <a:avLst/>
            <a:gdLst>
              <a:gd name="connsiteX0" fmla="*/ 3107437 w 6001412"/>
              <a:gd name="connsiteY0" fmla="*/ 0 h 5140114"/>
              <a:gd name="connsiteX1" fmla="*/ 6001412 w 6001412"/>
              <a:gd name="connsiteY1" fmla="*/ 0 h 5140114"/>
              <a:gd name="connsiteX2" fmla="*/ 6001412 w 6001412"/>
              <a:gd name="connsiteY2" fmla="*/ 1209937 h 5140114"/>
              <a:gd name="connsiteX3" fmla="*/ 6001412 w 6001412"/>
              <a:gd name="connsiteY3" fmla="*/ 2458112 h 5140114"/>
              <a:gd name="connsiteX4" fmla="*/ 6001412 w 6001412"/>
              <a:gd name="connsiteY4" fmla="*/ 5140114 h 5140114"/>
              <a:gd name="connsiteX5" fmla="*/ 755013 w 6001412"/>
              <a:gd name="connsiteY5" fmla="*/ 5140114 h 5140114"/>
              <a:gd name="connsiteX6" fmla="*/ 0 w 6001412"/>
              <a:gd name="connsiteY6" fmla="*/ 3108803 h 5140114"/>
              <a:gd name="connsiteX7" fmla="*/ 3107437 w 6001412"/>
              <a:gd name="connsiteY7" fmla="*/ 0 h 514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1412" h="5140114">
                <a:moveTo>
                  <a:pt x="3107437" y="0"/>
                </a:moveTo>
                <a:cubicBezTo>
                  <a:pt x="3775063" y="0"/>
                  <a:pt x="4889204" y="0"/>
                  <a:pt x="6001412" y="0"/>
                </a:cubicBezTo>
                <a:lnTo>
                  <a:pt x="6001412" y="1209937"/>
                </a:lnTo>
                <a:lnTo>
                  <a:pt x="6001412" y="2458112"/>
                </a:lnTo>
                <a:lnTo>
                  <a:pt x="6001412" y="5140114"/>
                </a:lnTo>
                <a:lnTo>
                  <a:pt x="755013" y="5140114"/>
                </a:lnTo>
                <a:cubicBezTo>
                  <a:pt x="284547" y="4595284"/>
                  <a:pt x="0" y="3885290"/>
                  <a:pt x="0" y="3108803"/>
                </a:cubicBezTo>
                <a:cubicBezTo>
                  <a:pt x="0" y="1391855"/>
                  <a:pt x="1391244" y="0"/>
                  <a:pt x="31074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C512A-CDD2-0819-7D30-3611F87F8F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95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1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669" y="2102049"/>
            <a:ext cx="5590999" cy="1677243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a section slide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395" y="3992037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E91CEAF-FF6E-8FD5-BFDA-E38D01BC48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0588" y="1645886"/>
            <a:ext cx="6001412" cy="5140114"/>
          </a:xfrm>
          <a:custGeom>
            <a:avLst/>
            <a:gdLst>
              <a:gd name="connsiteX0" fmla="*/ 3107437 w 6001412"/>
              <a:gd name="connsiteY0" fmla="*/ 0 h 5140114"/>
              <a:gd name="connsiteX1" fmla="*/ 6001412 w 6001412"/>
              <a:gd name="connsiteY1" fmla="*/ 0 h 5140114"/>
              <a:gd name="connsiteX2" fmla="*/ 6001412 w 6001412"/>
              <a:gd name="connsiteY2" fmla="*/ 1209937 h 5140114"/>
              <a:gd name="connsiteX3" fmla="*/ 6001412 w 6001412"/>
              <a:gd name="connsiteY3" fmla="*/ 2458112 h 5140114"/>
              <a:gd name="connsiteX4" fmla="*/ 6001412 w 6001412"/>
              <a:gd name="connsiteY4" fmla="*/ 5140114 h 5140114"/>
              <a:gd name="connsiteX5" fmla="*/ 755013 w 6001412"/>
              <a:gd name="connsiteY5" fmla="*/ 5140114 h 5140114"/>
              <a:gd name="connsiteX6" fmla="*/ 0 w 6001412"/>
              <a:gd name="connsiteY6" fmla="*/ 3108803 h 5140114"/>
              <a:gd name="connsiteX7" fmla="*/ 3107437 w 6001412"/>
              <a:gd name="connsiteY7" fmla="*/ 0 h 514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1412" h="5140114">
                <a:moveTo>
                  <a:pt x="3107437" y="0"/>
                </a:moveTo>
                <a:cubicBezTo>
                  <a:pt x="3775063" y="0"/>
                  <a:pt x="4889204" y="0"/>
                  <a:pt x="6001412" y="0"/>
                </a:cubicBezTo>
                <a:lnTo>
                  <a:pt x="6001412" y="1209937"/>
                </a:lnTo>
                <a:lnTo>
                  <a:pt x="6001412" y="2458112"/>
                </a:lnTo>
                <a:lnTo>
                  <a:pt x="6001412" y="5140114"/>
                </a:lnTo>
                <a:lnTo>
                  <a:pt x="755013" y="5140114"/>
                </a:lnTo>
                <a:cubicBezTo>
                  <a:pt x="284547" y="4595284"/>
                  <a:pt x="0" y="3885290"/>
                  <a:pt x="0" y="3108803"/>
                </a:cubicBezTo>
                <a:cubicBezTo>
                  <a:pt x="0" y="1391855"/>
                  <a:pt x="1391244" y="0"/>
                  <a:pt x="31074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42DDCE-6797-AA13-0FA7-65588D86B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E36A2D-7572-62E9-C3E7-532613D3A6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082474" y="631456"/>
            <a:ext cx="2256652" cy="7491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D2AB23-5249-C271-55B2-F213206DCC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3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9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2" y="1839702"/>
            <a:ext cx="8265157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Sed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</a:t>
            </a:r>
            <a:r>
              <a:rPr lang="en-GB" err="1">
                <a:effectLst/>
              </a:rPr>
              <a:t>sit.Quisque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Sed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fermentum,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 </a:t>
            </a:r>
            <a:endParaRPr lang="en-GB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341BF005-F903-11D4-6C87-E29CE2F2D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1769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2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7FE5A-8255-D0E8-0F15-A0DD0B4C6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2FF4A5C-B4CA-D35E-E279-FDC5FBC52F3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42964" y="1819275"/>
            <a:ext cx="10510837" cy="42052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BBBD4D-D889-AADC-2762-D7835B91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616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0" y="1839702"/>
            <a:ext cx="8265157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Sed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</a:t>
            </a:r>
            <a:r>
              <a:rPr lang="en-GB" err="1">
                <a:effectLst/>
              </a:rPr>
              <a:t>sit.Quisque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Sed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fermentum,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 </a:t>
            </a:r>
            <a:endParaRPr lang="en-GB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341BF005-F903-11D4-6C87-E29CE2F2D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9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4743-9034-6E89-5AB3-52E4D48B2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7FE5A-8255-D0E8-0F15-A0DD0B4C6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2FF4A5C-B4CA-D35E-E279-FDC5FBC52F3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42963" y="1819275"/>
            <a:ext cx="10510837" cy="42052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7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CD0E-17BE-EC43-88D0-301055E7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0B7F89-8467-FDC7-A1C2-87492591A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DBC84B0-ED96-F445-2398-BFFA4AE02B4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38200" y="1768475"/>
            <a:ext cx="10515600" cy="4094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33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341BF005-F903-11D4-6C87-E29CE2F2D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E8E9E6F-E97F-1CCC-3F04-8C4DC2C9780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63588" y="1974850"/>
            <a:ext cx="10515600" cy="39306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62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0" y="1839702"/>
            <a:ext cx="6043503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sit.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67C051-90C9-9760-EE5C-F113B036F2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9622" y="1113167"/>
            <a:ext cx="5442377" cy="5671202"/>
          </a:xfrm>
          <a:custGeom>
            <a:avLst/>
            <a:gdLst>
              <a:gd name="connsiteX0" fmla="*/ 5442377 w 5442377"/>
              <a:gd name="connsiteY0" fmla="*/ 0 h 5671202"/>
              <a:gd name="connsiteX1" fmla="*/ 5442377 w 5442377"/>
              <a:gd name="connsiteY1" fmla="*/ 171263 h 5671202"/>
              <a:gd name="connsiteX2" fmla="*/ 5442377 w 5442377"/>
              <a:gd name="connsiteY2" fmla="*/ 826186 h 5671202"/>
              <a:gd name="connsiteX3" fmla="*/ 5442377 w 5442377"/>
              <a:gd name="connsiteY3" fmla="*/ 5378671 h 5671202"/>
              <a:gd name="connsiteX4" fmla="*/ 5442377 w 5442377"/>
              <a:gd name="connsiteY4" fmla="*/ 5671202 h 5671202"/>
              <a:gd name="connsiteX5" fmla="*/ 0 w 5442377"/>
              <a:gd name="connsiteY5" fmla="*/ 5671202 h 5671202"/>
              <a:gd name="connsiteX6" fmla="*/ 5442377 w 5442377"/>
              <a:gd name="connsiteY6" fmla="*/ 0 h 567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2377" h="5671202">
                <a:moveTo>
                  <a:pt x="5442377" y="0"/>
                </a:moveTo>
                <a:lnTo>
                  <a:pt x="5442377" y="171263"/>
                </a:lnTo>
                <a:lnTo>
                  <a:pt x="5442377" y="826186"/>
                </a:lnTo>
                <a:lnTo>
                  <a:pt x="5442377" y="5378671"/>
                </a:lnTo>
                <a:lnTo>
                  <a:pt x="5442377" y="5671202"/>
                </a:lnTo>
                <a:lnTo>
                  <a:pt x="0" y="5671202"/>
                </a:lnTo>
                <a:cubicBezTo>
                  <a:pt x="0" y="2508950"/>
                  <a:pt x="2639608" y="96819"/>
                  <a:pt x="544237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09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Resiz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1" y="1839702"/>
            <a:ext cx="5533440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sit.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fermentum.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64CEED-5AE5-5967-EA26-D37F006632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9082" y="1792465"/>
            <a:ext cx="5007932" cy="4384497"/>
          </a:xfrm>
          <a:prstGeom prst="roundRect">
            <a:avLst>
              <a:gd name="adj" fmla="val 5851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42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695" y="1826156"/>
            <a:ext cx="8089052" cy="4279900"/>
          </a:xfrm>
        </p:spPr>
        <p:txBody>
          <a:bodyPr>
            <a:noAutofit/>
          </a:bodyPr>
          <a:lstStyle>
            <a:lvl1pPr marL="342900" indent="-342900">
              <a:lnSpc>
                <a:spcPts val="27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 spc="0" baseline="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endParaRPr lang="en-GB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341BF005-F903-11D4-6C87-E29CE2F2D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0C2ED-582C-7DEA-FFF0-044A9E07816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3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6" r:id="rId3"/>
  </p:sldLayoutIdLst>
  <p:hf sldNum="0"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5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329B7-E0A2-898D-79A5-11439A1599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3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5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34969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7" r:id="rId3"/>
    <p:sldLayoutId id="2147483688" r:id="rId4"/>
  </p:sldLayoutIdLst>
  <p:hf sldNum="0"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4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F289E1-C4C9-4053-14FE-BB4AECBCF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90E37-E81B-D94E-8F4C-F7866DC26FF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D5F20-B499-D1E6-534C-7C652A13ADC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71143"/>
            <a:ext cx="12192000" cy="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1" r:id="rId4"/>
    <p:sldLayoutId id="2147483650" r:id="rId5"/>
    <p:sldLayoutId id="2147483652" r:id="rId6"/>
    <p:sldLayoutId id="2147483649" r:id="rId7"/>
  </p:sldLayoutIdLst>
  <p:hf sldNum="0" hdr="0" ftr="0" dt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700"/>
        </a:lnSpc>
        <a:spcBef>
          <a:spcPts val="1000"/>
        </a:spcBef>
        <a:spcAft>
          <a:spcPts val="1400"/>
        </a:spcAft>
        <a:buFont typeface="Arial" panose="020B0604020202020204" pitchFamily="34" charset="0"/>
        <a:buChar char="•"/>
        <a:defRPr sz="1800" b="0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C142-DDA2-C4D2-3688-01C3950F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B3AA0BC-5029-2327-2837-44A35FDAF3C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30" r="12230"/>
          <a:stretch>
            <a:fillRect/>
          </a:stretch>
        </p:blipFill>
        <p:spPr>
          <a:xfrm>
            <a:off x="6682733" y="1935117"/>
            <a:ext cx="5509267" cy="485021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A9AF38-2ECD-A6DA-E115-B09FFC0DF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549" y="2491980"/>
            <a:ext cx="6893106" cy="2861070"/>
          </a:xfrm>
        </p:spPr>
        <p:txBody>
          <a:bodyPr>
            <a:normAutofit/>
          </a:bodyPr>
          <a:lstStyle/>
          <a:p>
            <a:r>
              <a:rPr lang="en-US" dirty="0"/>
              <a:t>Missed Appointments in Acute Outpatient Settings</a:t>
            </a:r>
          </a:p>
        </p:txBody>
      </p:sp>
    </p:spTree>
    <p:extLst>
      <p:ext uri="{BB962C8B-B14F-4D97-AF65-F5344CB8AC3E}">
        <p14:creationId xmlns:p14="http://schemas.microsoft.com/office/powerpoint/2010/main" val="45091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917AA-8482-F860-F586-9269D88E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C2EA-C203-854E-1EE6-968D1D22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2E1FB-24A5-7E6C-C172-F4CE15287144}"/>
              </a:ext>
            </a:extLst>
          </p:cNvPr>
          <p:cNvSpPr txBox="1"/>
          <p:nvPr/>
        </p:nvSpPr>
        <p:spPr>
          <a:xfrm>
            <a:off x="184751" y="1495724"/>
            <a:ext cx="118224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Modelling DNAs using Time Series Analyses performs best when modelling the ‘percentage missed’ rather than the ‘total number missed’.</a:t>
            </a:r>
          </a:p>
          <a:p>
            <a:endParaRPr lang="en-GB" sz="2800" dirty="0">
              <a:solidFill>
                <a:schemeClr val="accent1"/>
              </a:solidFill>
            </a:endParaRPr>
          </a:p>
          <a:p>
            <a:r>
              <a:rPr lang="en-GB" sz="2800" dirty="0">
                <a:solidFill>
                  <a:schemeClr val="accent1"/>
                </a:solidFill>
              </a:rPr>
              <a:t>After statistically proving that the data is stationary hyperparameter tuning is deployed to find the most suitable model for the circumstances. </a:t>
            </a:r>
          </a:p>
          <a:p>
            <a:endParaRPr lang="en-GB" sz="2800" dirty="0">
              <a:solidFill>
                <a:schemeClr val="accent1"/>
              </a:solidFill>
            </a:endParaRPr>
          </a:p>
          <a:p>
            <a:r>
              <a:rPr lang="en-GB" sz="2800" dirty="0">
                <a:solidFill>
                  <a:schemeClr val="accent1"/>
                </a:solidFill>
              </a:rPr>
              <a:t>Whilst the number of missed appointments is decreasing with time, seasonality still persists with reference to particular months of the year. </a:t>
            </a:r>
          </a:p>
        </p:txBody>
      </p:sp>
    </p:spTree>
    <p:extLst>
      <p:ext uri="{BB962C8B-B14F-4D97-AF65-F5344CB8AC3E}">
        <p14:creationId xmlns:p14="http://schemas.microsoft.com/office/powerpoint/2010/main" val="28497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0117-3B3A-20E0-465A-3AD91129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C12B-02B4-389F-3745-6C827FC8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Predicting missed appointments: </a:t>
            </a:r>
            <a:br>
              <a:rPr lang="en-US" dirty="0"/>
            </a:br>
            <a:r>
              <a:rPr lang="en-US" dirty="0"/>
              <a:t>The Data, basic EDA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0475C-BCEC-0A94-D6B2-B6E90BD62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0704" y="6140981"/>
            <a:ext cx="2743200" cy="365125"/>
          </a:xfrm>
        </p:spPr>
        <p:txBody>
          <a:bodyPr/>
          <a:lstStyle/>
          <a:p>
            <a:fld id="{10390E37-E81B-D94E-8F4C-F7866DC26FF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D527EC-4539-69D3-7FAE-AED5C0392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7164"/>
            <a:ext cx="12224053" cy="4320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E2ECE0-8C6E-B915-7A8C-E2FF48810ABD}"/>
              </a:ext>
            </a:extLst>
          </p:cNvPr>
          <p:cNvSpPr txBox="1"/>
          <p:nvPr/>
        </p:nvSpPr>
        <p:spPr>
          <a:xfrm>
            <a:off x="158097" y="5789776"/>
            <a:ext cx="1180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Deep troughs in the number of missed appointments which occur over the Christmas and Easter periods may not be indicative of the likelihood of those appointments being missed. </a:t>
            </a:r>
          </a:p>
        </p:txBody>
      </p:sp>
    </p:spTree>
    <p:extLst>
      <p:ext uri="{BB962C8B-B14F-4D97-AF65-F5344CB8AC3E}">
        <p14:creationId xmlns:p14="http://schemas.microsoft.com/office/powerpoint/2010/main" val="103827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1D23-B201-1620-E453-25706824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8052-31BF-95C6-EAE4-BF79A43C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Predicting missed appointments: </a:t>
            </a:r>
            <a:br>
              <a:rPr lang="en-US" dirty="0"/>
            </a:br>
            <a:r>
              <a:rPr lang="en-US" dirty="0"/>
              <a:t>The Data, basic EDA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1FCF-663B-133B-598D-8205483E5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0704" y="6140981"/>
            <a:ext cx="2743200" cy="365125"/>
          </a:xfrm>
        </p:spPr>
        <p:txBody>
          <a:bodyPr/>
          <a:lstStyle/>
          <a:p>
            <a:fld id="{10390E37-E81B-D94E-8F4C-F7866DC26FF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1F5166-A788-A5EC-43DD-753FEA7B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5563"/>
            <a:ext cx="12192000" cy="45369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87AAF-F32D-5185-BD08-BFC9AE68282E}"/>
              </a:ext>
            </a:extLst>
          </p:cNvPr>
          <p:cNvSpPr/>
          <p:nvPr/>
        </p:nvSpPr>
        <p:spPr>
          <a:xfrm>
            <a:off x="4438436" y="1561672"/>
            <a:ext cx="3760342" cy="164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D4EA1-EF22-EEF8-133B-9FA236E12BE7}"/>
              </a:ext>
            </a:extLst>
          </p:cNvPr>
          <p:cNvSpPr txBox="1"/>
          <p:nvPr/>
        </p:nvSpPr>
        <p:spPr>
          <a:xfrm>
            <a:off x="196553" y="5862555"/>
            <a:ext cx="1141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Converting to a ‘Percentage of total appointments’ will allow for a more accurate forecasting model.</a:t>
            </a:r>
          </a:p>
        </p:txBody>
      </p:sp>
    </p:spTree>
    <p:extLst>
      <p:ext uri="{BB962C8B-B14F-4D97-AF65-F5344CB8AC3E}">
        <p14:creationId xmlns:p14="http://schemas.microsoft.com/office/powerpoint/2010/main" val="33504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043B-9258-1CAF-0A63-55449B164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837E-A96C-D3E6-BE63-EF5A9D57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Predicting missed appointments: </a:t>
            </a:r>
            <a:br>
              <a:rPr lang="en-US" dirty="0"/>
            </a:br>
            <a:r>
              <a:rPr lang="en-US" dirty="0"/>
              <a:t>The Data, basic EDA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4C6F56-4232-E7E1-0457-0101F5F78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30" y="1244760"/>
            <a:ext cx="10249313" cy="3814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AB5B03-5182-CD6A-E615-AD679F26AB16}"/>
              </a:ext>
            </a:extLst>
          </p:cNvPr>
          <p:cNvSpPr txBox="1"/>
          <p:nvPr/>
        </p:nvSpPr>
        <p:spPr>
          <a:xfrm>
            <a:off x="269192" y="5274244"/>
            <a:ext cx="116051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Missed appointment rates show recurring peaks around Christmas and Eater, although the impact is dampened when expressed as percentages rather than appointment counts.</a:t>
            </a:r>
          </a:p>
          <a:p>
            <a:endParaRPr lang="en-GB" dirty="0"/>
          </a:p>
          <a:p>
            <a:r>
              <a:rPr lang="en-GB" dirty="0"/>
              <a:t>Despite their predictability, Easter effects are more challenging to forecast because the date varies between years.</a:t>
            </a:r>
          </a:p>
        </p:txBody>
      </p:sp>
    </p:spTree>
    <p:extLst>
      <p:ext uri="{BB962C8B-B14F-4D97-AF65-F5344CB8AC3E}">
        <p14:creationId xmlns:p14="http://schemas.microsoft.com/office/powerpoint/2010/main" val="133798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0A76-0EC6-E82C-1C7E-2EC29F48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7538-BD02-F1B9-B7B4-188FA3858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Yearly and Monthly Trends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1E08A-F211-25C3-1B01-3549868C6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90E37-E81B-D94E-8F4C-F7866DC26FF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A comparison of a graph&#10;&#10;AI-generated content may be incorrect.">
            <a:extLst>
              <a:ext uri="{FF2B5EF4-FFF2-40B4-BE49-F238E27FC236}">
                <a16:creationId xmlns:a16="http://schemas.microsoft.com/office/drawing/2014/main" id="{2B759B9A-4547-BF36-929C-8E4DC7F375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25" r="7726"/>
          <a:stretch>
            <a:fillRect/>
          </a:stretch>
        </p:blipFill>
        <p:spPr>
          <a:xfrm>
            <a:off x="425720" y="1128017"/>
            <a:ext cx="11340560" cy="460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83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7FF1-6D5F-EB41-1117-A8B05BF0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60FA-0503-1572-AF15-554061CE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97" y="-36394"/>
            <a:ext cx="12192000" cy="145576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Testing whether the data is stationary.</a:t>
            </a:r>
            <a:br>
              <a:rPr lang="en-GB" sz="2200" dirty="0"/>
            </a:br>
            <a:r>
              <a:rPr lang="en-GB" sz="2200" dirty="0"/>
              <a:t>		</a:t>
            </a:r>
            <a:r>
              <a:rPr lang="en-GB" sz="2200" dirty="0">
                <a:solidFill>
                  <a:schemeClr val="accent6">
                    <a:lumMod val="75000"/>
                  </a:schemeClr>
                </a:solidFill>
              </a:rPr>
              <a:t>	Null Hypothesis H</a:t>
            </a:r>
            <a:r>
              <a:rPr lang="en-GB" sz="2200" baseline="-250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GB" sz="2200" dirty="0">
                <a:solidFill>
                  <a:schemeClr val="accent6">
                    <a:lumMod val="75000"/>
                  </a:schemeClr>
                </a:solidFill>
              </a:rPr>
              <a:t>: The data is non-stationary</a:t>
            </a:r>
            <a:br>
              <a:rPr lang="en-GB" sz="22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200" dirty="0">
                <a:solidFill>
                  <a:schemeClr val="accent6">
                    <a:lumMod val="75000"/>
                  </a:schemeClr>
                </a:solidFill>
              </a:rPr>
              <a:t>			Alternative Hypothesis H</a:t>
            </a:r>
            <a:r>
              <a:rPr lang="en-GB" sz="2200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GB" sz="2200" dirty="0">
                <a:solidFill>
                  <a:schemeClr val="accent6">
                    <a:lumMod val="75000"/>
                  </a:schemeClr>
                </a:solidFill>
              </a:rPr>
              <a:t>: The data is stationary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76935-3807-6889-A68B-2EA441BCE7A5}"/>
              </a:ext>
            </a:extLst>
          </p:cNvPr>
          <p:cNvSpPr txBox="1"/>
          <p:nvPr/>
        </p:nvSpPr>
        <p:spPr>
          <a:xfrm>
            <a:off x="5277742" y="2656849"/>
            <a:ext cx="683734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dirty="0">
                <a:solidFill>
                  <a:schemeClr val="tx1"/>
                </a:solidFill>
                <a:latin typeface="+mn-lt"/>
              </a:rPr>
              <a:t>Trend: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  <a:latin typeface="+mn-lt"/>
              </a:rPr>
              <a:t>Reducing with time. But flat recently (likely following increased utilisation of digital communications).</a:t>
            </a:r>
          </a:p>
          <a:p>
            <a:pPr algn="l"/>
            <a:endParaRPr lang="en-GB" sz="1600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GB" sz="1600" b="1" dirty="0">
                <a:solidFill>
                  <a:schemeClr val="tx1"/>
                </a:solidFill>
              </a:rPr>
              <a:t>Season: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</a:rPr>
              <a:t>Visual annual seasonality, probably based around public and school holidays. </a:t>
            </a:r>
          </a:p>
          <a:p>
            <a:pPr algn="l"/>
            <a:endParaRPr lang="en-GB" sz="1600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GB" sz="1600" b="1" dirty="0">
                <a:solidFill>
                  <a:schemeClr val="tx1"/>
                </a:solidFill>
              </a:rPr>
              <a:t>Resid.: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</a:rPr>
              <a:t>Random scattering around zero (no obvious pattern). </a:t>
            </a:r>
          </a:p>
          <a:p>
            <a:pPr algn="l"/>
            <a:endParaRPr lang="en-GB" sz="1600" dirty="0">
              <a:solidFill>
                <a:schemeClr val="tx1"/>
              </a:solidFill>
            </a:endParaRPr>
          </a:p>
          <a:p>
            <a:pPr algn="l"/>
            <a:r>
              <a:rPr lang="en-GB" sz="1600" b="1" dirty="0">
                <a:solidFill>
                  <a:schemeClr val="tx1"/>
                </a:solidFill>
              </a:rPr>
              <a:t>Stationarity: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</a:rPr>
              <a:t>Performing an Adjusted Dickey-Fuller test on the reconstructed data gives a p-value of 0.002 which is &lt;0.05 </a:t>
            </a:r>
          </a:p>
          <a:p>
            <a:pPr algn="l"/>
            <a:endParaRPr lang="en-GB" sz="1600" dirty="0">
              <a:solidFill>
                <a:schemeClr val="tx1"/>
              </a:solidFill>
            </a:endParaRPr>
          </a:p>
          <a:p>
            <a:pPr algn="l"/>
            <a:r>
              <a:rPr lang="en-GB" sz="1600" b="1" dirty="0">
                <a:solidFill>
                  <a:srgbClr val="FF0000"/>
                </a:solidFill>
              </a:rPr>
              <a:t>The null hypothesis is rejected (at 5% significance level)</a:t>
            </a:r>
            <a:endParaRPr lang="en-GB" sz="16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8" name="Picture 7" descr="A graph of blue lines and dots&#10;&#10;AI-generated content may be incorrect.">
            <a:extLst>
              <a:ext uri="{FF2B5EF4-FFF2-40B4-BE49-F238E27FC236}">
                <a16:creationId xmlns:a16="http://schemas.microsoft.com/office/drawing/2014/main" id="{1C449246-9B13-DC70-5232-0F230248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59" y="2649724"/>
            <a:ext cx="5066537" cy="3799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7C6348-01E5-0F30-757B-F65044A3C184}"/>
              </a:ext>
            </a:extLst>
          </p:cNvPr>
          <p:cNvSpPr txBox="1"/>
          <p:nvPr/>
        </p:nvSpPr>
        <p:spPr>
          <a:xfrm>
            <a:off x="236561" y="1610436"/>
            <a:ext cx="1157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Stationarity is checked to ensure that patterns learned form historical data remain consistent over time, supporting reliable forecasting.</a:t>
            </a:r>
          </a:p>
        </p:txBody>
      </p:sp>
    </p:spTree>
    <p:extLst>
      <p:ext uri="{BB962C8B-B14F-4D97-AF65-F5344CB8AC3E}">
        <p14:creationId xmlns:p14="http://schemas.microsoft.com/office/powerpoint/2010/main" val="376256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B8EB-07B3-3ECF-31EA-A8903A91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643F-7390-4E35-95A2-6804A762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Building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A3066-C3B5-36CD-EA1F-B5FFE812C558}"/>
              </a:ext>
            </a:extLst>
          </p:cNvPr>
          <p:cNvSpPr txBox="1"/>
          <p:nvPr/>
        </p:nvSpPr>
        <p:spPr>
          <a:xfrm>
            <a:off x="3581400" y="5532437"/>
            <a:ext cx="5073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chemeClr val="tx1"/>
                </a:solidFill>
                <a:latin typeface="+mn-lt"/>
              </a:rPr>
              <a:t>Latest 16 weeks data as ‘test’ data.</a:t>
            </a:r>
          </a:p>
          <a:p>
            <a:pPr algn="l"/>
            <a:r>
              <a:rPr lang="en-GB" sz="2400" dirty="0">
                <a:solidFill>
                  <a:schemeClr val="tx1"/>
                </a:solidFill>
                <a:latin typeface="+mn-lt"/>
              </a:rPr>
              <a:t>Split </a:t>
            </a:r>
            <a:r>
              <a:rPr lang="en-GB" sz="2400" dirty="0" err="1">
                <a:solidFill>
                  <a:schemeClr val="tx1"/>
                </a:solidFill>
                <a:latin typeface="+mn-lt"/>
              </a:rPr>
              <a:t>train:test</a:t>
            </a:r>
            <a:r>
              <a:rPr lang="en-GB" sz="2400" dirty="0">
                <a:solidFill>
                  <a:schemeClr val="tx1"/>
                </a:solidFill>
                <a:latin typeface="+mn-lt"/>
              </a:rPr>
              <a:t> = 141:16</a:t>
            </a:r>
          </a:p>
        </p:txBody>
      </p:sp>
      <p:pic>
        <p:nvPicPr>
          <p:cNvPr id="7" name="Picture 6" descr="A graph showing a line of a train&#10;&#10;AI-generated content may be incorrect.">
            <a:extLst>
              <a:ext uri="{FF2B5EF4-FFF2-40B4-BE49-F238E27FC236}">
                <a16:creationId xmlns:a16="http://schemas.microsoft.com/office/drawing/2014/main" id="{522E592D-E0E7-771A-444E-E984F751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56" y="1325563"/>
            <a:ext cx="10222786" cy="365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0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9E7D-C64F-F7AA-7E6E-9951899B1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96C8-D9A6-3B29-B3ED-1956CB30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4"/>
            <a:ext cx="12192000" cy="1325563"/>
          </a:xfrm>
        </p:spPr>
        <p:txBody>
          <a:bodyPr>
            <a:normAutofit/>
          </a:bodyPr>
          <a:lstStyle/>
          <a:p>
            <a:r>
              <a:rPr lang="en-GB" dirty="0"/>
              <a:t>Hyperparameter Tuning (manual &amp; auto)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9D4EE-921E-A51B-9615-A9645240FFED}"/>
              </a:ext>
            </a:extLst>
          </p:cNvPr>
          <p:cNvSpPr txBox="1"/>
          <p:nvPr/>
        </p:nvSpPr>
        <p:spPr>
          <a:xfrm>
            <a:off x="6463631" y="2141992"/>
            <a:ext cx="52505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tx1"/>
                </a:solidFill>
                <a:latin typeface="+mn-lt"/>
              </a:rPr>
              <a:t>Using a technic called grid search there were too many potential combinations and given the potential 52 week season it was not feasible to run this for all combinations.</a:t>
            </a:r>
          </a:p>
          <a:p>
            <a:pPr algn="l"/>
            <a:endParaRPr lang="en-GB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GB" dirty="0">
                <a:solidFill>
                  <a:schemeClr val="tx1"/>
                </a:solidFill>
                <a:latin typeface="+mn-lt"/>
              </a:rPr>
              <a:t>Therefore, the range of values were reduced by viewing the ACF and P-ACF plots.</a:t>
            </a:r>
          </a:p>
        </p:txBody>
      </p:sp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E7D41EA0-3107-ABE1-43B9-3F6F01FF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748"/>
            <a:ext cx="6463631" cy="3231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5C1238-B57F-EAAA-E680-1F7636178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488" y="4735939"/>
            <a:ext cx="8670713" cy="144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6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E9C3-C4EE-F0AF-5AF5-AAE3EDE6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5397-A54A-47F6-E1DB-313F63DC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4"/>
            <a:ext cx="10515600" cy="1325563"/>
          </a:xfrm>
        </p:spPr>
        <p:txBody>
          <a:bodyPr/>
          <a:lstStyle/>
          <a:p>
            <a:r>
              <a:rPr lang="en-GB" dirty="0"/>
              <a:t>Results, </a:t>
            </a:r>
            <a:r>
              <a:rPr lang="en-GB"/>
              <a:t>no forecast</a:t>
            </a:r>
            <a:endParaRPr lang="en-GB" dirty="0"/>
          </a:p>
        </p:txBody>
      </p:sp>
      <p:pic>
        <p:nvPicPr>
          <p:cNvPr id="10" name="Picture 9" descr="A graph showing a graph&#10;&#10;AI-generated content may be incorrect.">
            <a:extLst>
              <a:ext uri="{FF2B5EF4-FFF2-40B4-BE49-F238E27FC236}">
                <a16:creationId xmlns:a16="http://schemas.microsoft.com/office/drawing/2014/main" id="{90EE963E-71AE-F2E6-E3A9-F5A5C79BE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2" r="7358"/>
          <a:stretch>
            <a:fillRect/>
          </a:stretch>
        </p:blipFill>
        <p:spPr>
          <a:xfrm>
            <a:off x="234798" y="1115672"/>
            <a:ext cx="9383493" cy="37029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66072-62E9-CA98-92B3-AEE5D5D4A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860" y="1694544"/>
            <a:ext cx="1988346" cy="23983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B8775F-00C5-D4FF-25BF-E26EC268CCDB}"/>
              </a:ext>
            </a:extLst>
          </p:cNvPr>
          <p:cNvSpPr txBox="1"/>
          <p:nvPr/>
        </p:nvSpPr>
        <p:spPr>
          <a:xfrm>
            <a:off x="141005" y="4622025"/>
            <a:ext cx="11994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chemeClr val="tx1"/>
                </a:solidFill>
                <a:latin typeface="+mn-lt"/>
              </a:rPr>
              <a:t>During the hyperparameter tuning stage, the results from grid search were not strictly followed. This is </a:t>
            </a:r>
            <a:r>
              <a:rPr lang="en-GB" sz="2400" dirty="0" err="1">
                <a:solidFill>
                  <a:schemeClr val="tx1"/>
                </a:solidFill>
                <a:latin typeface="+mn-lt"/>
              </a:rPr>
              <a:t>inpart</a:t>
            </a:r>
            <a:r>
              <a:rPr lang="en-GB" sz="2400" dirty="0">
                <a:solidFill>
                  <a:schemeClr val="tx1"/>
                </a:solidFill>
                <a:latin typeface="+mn-lt"/>
              </a:rPr>
              <a:t> because it relied solely on RMSE. </a:t>
            </a:r>
          </a:p>
          <a:p>
            <a:pPr algn="l"/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GB" sz="2400" dirty="0">
                <a:solidFill>
                  <a:schemeClr val="tx1"/>
                </a:solidFill>
                <a:latin typeface="+mn-lt"/>
              </a:rPr>
              <a:t>After analysing a range of metrics the best model was selected manually. This model produces a mean average percentage error (MAPE) of 0.05, meaning forecasts are on average 5% away from true values</a:t>
            </a:r>
          </a:p>
        </p:txBody>
      </p:sp>
    </p:spTree>
    <p:extLst>
      <p:ext uri="{BB962C8B-B14F-4D97-AF65-F5344CB8AC3E}">
        <p14:creationId xmlns:p14="http://schemas.microsoft.com/office/powerpoint/2010/main" val="2719070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3409-2D73-40EA-AD3F-FD58D6BA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47FE-A326-3408-8F9F-85696BD6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4"/>
            <a:ext cx="10515600" cy="1325563"/>
          </a:xfrm>
        </p:spPr>
        <p:txBody>
          <a:bodyPr/>
          <a:lstStyle/>
          <a:p>
            <a:r>
              <a:rPr lang="en-GB" dirty="0"/>
              <a:t>Results with forecast</a:t>
            </a: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07856A25-E51B-6035-513F-F64A89C49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185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1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9770A0-F40B-259D-358E-6FBFC14EAA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578" y="4280571"/>
            <a:ext cx="5327709" cy="1370215"/>
          </a:xfrm>
        </p:spPr>
        <p:txBody>
          <a:bodyPr>
            <a:normAutofit/>
          </a:bodyPr>
          <a:lstStyle/>
          <a:p>
            <a:r>
              <a:rPr lang="en-US" sz="1800" dirty="0"/>
              <a:t>Contact:</a:t>
            </a:r>
          </a:p>
          <a:p>
            <a:r>
              <a:rPr lang="en-US" sz="1800" dirty="0"/>
              <a:t>Fiona Thrupp</a:t>
            </a:r>
          </a:p>
          <a:p>
            <a:r>
              <a:rPr lang="en-US" sz="1800" b="0" dirty="0"/>
              <a:t>Fiona.thrupp@nhs.net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6717570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Healthier Together blues">
      <a:dk1>
        <a:srgbClr val="1C1F63"/>
      </a:dk1>
      <a:lt1>
        <a:sysClr val="window" lastClr="FFFFFF"/>
      </a:lt1>
      <a:dk2>
        <a:srgbClr val="44546A"/>
      </a:dk2>
      <a:lt2>
        <a:srgbClr val="E7E6E6"/>
      </a:lt2>
      <a:accent1>
        <a:srgbClr val="1C1F63"/>
      </a:accent1>
      <a:accent2>
        <a:srgbClr val="4B51CC"/>
      </a:accent2>
      <a:accent3>
        <a:srgbClr val="878BDD"/>
      </a:accent3>
      <a:accent4>
        <a:srgbClr val="C3C5EE"/>
      </a:accent4>
      <a:accent5>
        <a:srgbClr val="7F7F7F"/>
      </a:accent5>
      <a:accent6>
        <a:srgbClr val="BFBFBF"/>
      </a:accent6>
      <a:hlink>
        <a:srgbClr val="075EDB"/>
      </a:hlink>
      <a:folHlink>
        <a:srgbClr val="8605E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nd Slide">
  <a:themeElements>
    <a:clrScheme name="NHS">
      <a:dk1>
        <a:srgbClr val="1C1F62"/>
      </a:dk1>
      <a:lt1>
        <a:srgbClr val="FFFFFF"/>
      </a:lt1>
      <a:dk2>
        <a:srgbClr val="1C1F62"/>
      </a:dk2>
      <a:lt2>
        <a:srgbClr val="FFFAED"/>
      </a:lt2>
      <a:accent1>
        <a:srgbClr val="E06CFF"/>
      </a:accent1>
      <a:accent2>
        <a:srgbClr val="BEFE45"/>
      </a:accent2>
      <a:accent3>
        <a:srgbClr val="0DCFFA"/>
      </a:accent3>
      <a:accent4>
        <a:srgbClr val="8504E3"/>
      </a:accent4>
      <a:accent5>
        <a:srgbClr val="00AD5F"/>
      </a:accent5>
      <a:accent6>
        <a:srgbClr val="045EDA"/>
      </a:accent6>
      <a:hlink>
        <a:srgbClr val="1C1F62"/>
      </a:hlink>
      <a:folHlink>
        <a:srgbClr val="1C1F6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ection Slides">
  <a:themeElements>
    <a:clrScheme name="Healthier Together with ICB document">
      <a:dk1>
        <a:srgbClr val="1C1F63"/>
      </a:dk1>
      <a:lt1>
        <a:sysClr val="window" lastClr="FFFFFF"/>
      </a:lt1>
      <a:dk2>
        <a:srgbClr val="44546A"/>
      </a:dk2>
      <a:lt2>
        <a:srgbClr val="E7E6E6"/>
      </a:lt2>
      <a:accent1>
        <a:srgbClr val="1C1F63"/>
      </a:accent1>
      <a:accent2>
        <a:srgbClr val="075EDB"/>
      </a:accent2>
      <a:accent3>
        <a:srgbClr val="1C1F63"/>
      </a:accent3>
      <a:accent4>
        <a:srgbClr val="075EDB"/>
      </a:accent4>
      <a:accent5>
        <a:srgbClr val="1C1F63"/>
      </a:accent5>
      <a:accent6>
        <a:srgbClr val="075EDB"/>
      </a:accent6>
      <a:hlink>
        <a:srgbClr val="075EDB"/>
      </a:hlink>
      <a:folHlink>
        <a:srgbClr val="8605E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Body Slides">
  <a:themeElements>
    <a:clrScheme name="Healthier Together blues">
      <a:dk1>
        <a:srgbClr val="1C1F63"/>
      </a:dk1>
      <a:lt1>
        <a:sysClr val="window" lastClr="FFFFFF"/>
      </a:lt1>
      <a:dk2>
        <a:srgbClr val="44546A"/>
      </a:dk2>
      <a:lt2>
        <a:srgbClr val="E7E6E6"/>
      </a:lt2>
      <a:accent1>
        <a:srgbClr val="1C1F63"/>
      </a:accent1>
      <a:accent2>
        <a:srgbClr val="4B51CC"/>
      </a:accent2>
      <a:accent3>
        <a:srgbClr val="878BDD"/>
      </a:accent3>
      <a:accent4>
        <a:srgbClr val="C3C5EE"/>
      </a:accent4>
      <a:accent5>
        <a:srgbClr val="7F7F7F"/>
      </a:accent5>
      <a:accent6>
        <a:srgbClr val="BFBFBF"/>
      </a:accent6>
      <a:hlink>
        <a:srgbClr val="075EDB"/>
      </a:hlink>
      <a:folHlink>
        <a:srgbClr val="8605E4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81131a-5ef9-4c1f-b17b-99b9c4b05bfc">
      <Terms xmlns="http://schemas.microsoft.com/office/infopath/2007/PartnerControls"/>
    </lcf76f155ced4ddcb4097134ff3c332f>
    <TaxCatchAll xmlns="321487e1-d70a-4ac7-a45d-cb1aeb6d772e" xsi:nil="true"/>
    <SharedWithUsers xmlns="321487e1-d70a-4ac7-a45d-cb1aeb6d772e">
      <UserInfo>
        <DisplayName>MIDDA, Janette (NHS BRISTOL, NORTH SOMERSET AND SOUTH GLOUCESTERSHIRE ICB - 15C)</DisplayName>
        <AccountId>171</AccountId>
        <AccountType/>
      </UserInfo>
      <UserInfo>
        <DisplayName>HAVERGAL, Naomi (NHS BRISTOL, NORTH SOMERSET AND SOUTH GLOUCESTERSHIRE ICB - 15C)</DisplayName>
        <AccountId>65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227FA4040FC24A80A63F4C2205E1CD" ma:contentTypeVersion="17" ma:contentTypeDescription="Create a new document." ma:contentTypeScope="" ma:versionID="782248196dd72339bbadff48199afb1f">
  <xsd:schema xmlns:xsd="http://www.w3.org/2001/XMLSchema" xmlns:xs="http://www.w3.org/2001/XMLSchema" xmlns:p="http://schemas.microsoft.com/office/2006/metadata/properties" xmlns:ns2="9481131a-5ef9-4c1f-b17b-99b9c4b05bfc" xmlns:ns3="321487e1-d70a-4ac7-a45d-cb1aeb6d772e" targetNamespace="http://schemas.microsoft.com/office/2006/metadata/properties" ma:root="true" ma:fieldsID="2107a6a3ebb0be9b63fdd0906d8e4760" ns2:_="" ns3:_="">
    <xsd:import namespace="9481131a-5ef9-4c1f-b17b-99b9c4b05bfc"/>
    <xsd:import namespace="321487e1-d70a-4ac7-a45d-cb1aeb6d77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1131a-5ef9-4c1f-b17b-99b9c4b05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1487e1-d70a-4ac7-a45d-cb1aeb6d7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8cb318-8806-40fa-b3cd-d3ee06e44939}" ma:internalName="TaxCatchAll" ma:showField="CatchAllData" ma:web="321487e1-d70a-4ac7-a45d-cb1aeb6d7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3BB7FB-BD89-47DF-9FB1-3F904DBEB2A1}">
  <ds:schemaRefs>
    <ds:schemaRef ds:uri="http://schemas.microsoft.com/office/2006/metadata/properties"/>
    <ds:schemaRef ds:uri="http://purl.org/dc/elements/1.1/"/>
    <ds:schemaRef ds:uri="321487e1-d70a-4ac7-a45d-cb1aeb6d772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9481131a-5ef9-4c1f-b17b-99b9c4b05bfc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5B47CC-B35C-4B2B-96E5-ADE35E9132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7E68CE-20CE-48ED-8C76-D3F2B9F03559}">
  <ds:schemaRefs>
    <ds:schemaRef ds:uri="321487e1-d70a-4ac7-a45d-cb1aeb6d772e"/>
    <ds:schemaRef ds:uri="9481131a-5ef9-4c1f-b17b-99b9c4b05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488</Words>
  <Application>Microsoft Office PowerPoint</Application>
  <PresentationFormat>Widescreen</PresentationFormat>
  <Paragraphs>54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Title Slides</vt:lpstr>
      <vt:lpstr>End Slide</vt:lpstr>
      <vt:lpstr>Section Slides</vt:lpstr>
      <vt:lpstr>Body Slides</vt:lpstr>
      <vt:lpstr>Missed Appointments in Acute Outpatient Settings</vt:lpstr>
      <vt:lpstr>Executive Summary</vt:lpstr>
      <vt:lpstr>Predicting missed appointments:  The Data, basic EDA</vt:lpstr>
      <vt:lpstr>Predicting missed appointments:  The Data, basic EDA</vt:lpstr>
      <vt:lpstr>Predicting missed appointments:  The Data, basic EDA</vt:lpstr>
      <vt:lpstr>Yearly and Monthly Trends</vt:lpstr>
      <vt:lpstr>Testing whether the data is stationary.    Null Hypothesis H0: The data is non-stationary    Alternative Hypothesis H1: The data is stationary</vt:lpstr>
      <vt:lpstr>Building the Model</vt:lpstr>
      <vt:lpstr>Hyperparameter Tuning (manual &amp; auto)</vt:lpstr>
      <vt:lpstr>Results, no forecast</vt:lpstr>
      <vt:lpstr>Results with forecast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title of the presentation</dc:title>
  <dc:creator>Team Yoke</dc:creator>
  <cp:lastModifiedBy>THRUPP, Fiona (NHS BRISTOL, NORTH SOMERSET AND SOUTH GLOUCESTERSHIRE ICB - 15C)</cp:lastModifiedBy>
  <cp:revision>14</cp:revision>
  <dcterms:created xsi:type="dcterms:W3CDTF">2024-04-10T09:25:02Z</dcterms:created>
  <dcterms:modified xsi:type="dcterms:W3CDTF">2026-08-17T09:32:33Z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0x01010013227FA4040FC24A80A63F4C2205E1CD</vt:lpwstr>
  </property>
  <property fmtid="{D5CDD505-2E9C-101B-9397-08002B2CF9AE}" pid="3" name="MediaServiceImageTags">
    <vt:lpwstr/>
  </property>
</Properties>
</file>