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 id="2147483684" r:id="rId5"/>
    <p:sldMasterId id="2147483681" r:id="rId6"/>
    <p:sldMasterId id="2147483678" r:id="rId7"/>
  </p:sldMasterIdLst>
  <p:notesMasterIdLst>
    <p:notesMasterId r:id="rId21"/>
  </p:notesMasterIdLst>
  <p:sldIdLst>
    <p:sldId id="259" r:id="rId8"/>
    <p:sldId id="264" r:id="rId9"/>
    <p:sldId id="271" r:id="rId10"/>
    <p:sldId id="306" r:id="rId11"/>
    <p:sldId id="310" r:id="rId12"/>
    <p:sldId id="307" r:id="rId13"/>
    <p:sldId id="311" r:id="rId14"/>
    <p:sldId id="313" r:id="rId15"/>
    <p:sldId id="312" r:id="rId16"/>
    <p:sldId id="314" r:id="rId17"/>
    <p:sldId id="315" r:id="rId18"/>
    <p:sldId id="316" r:id="rId19"/>
    <p:sldId id="269" r:id="rId20"/>
  </p:sldIdLst>
  <p:sldSz cx="12192000" cy="6858000"/>
  <p:notesSz cx="6858000" cy="9144000"/>
  <p:defaultTextStyle>
    <a:defPPr>
      <a:defRPr kern="0"/>
    </a:def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F26E3A-0974-2F96-7488-96FB417BDDF9}" name="TOMLIN, Lynne (NHS BRISTOL, NORTH SOMERSET AND SOUTH GLOUCESTERSHIRE ICB - 15C)" initials="T1" userId="S::lynne.tomlin@nhs.net::a58711e5-f617-48fa-b0fe-cbb5b47e53f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CF01"/>
    <a:srgbClr val="AB3EFC"/>
    <a:srgbClr val="39BCB9"/>
    <a:srgbClr val="C462FA"/>
    <a:srgbClr val="6DAEDB"/>
    <a:srgbClr val="85BDC3"/>
    <a:srgbClr val="30C248"/>
    <a:srgbClr val="049FC1"/>
    <a:srgbClr val="9EF101"/>
    <a:srgbClr val="D091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293" autoAdjust="0"/>
  </p:normalViewPr>
  <p:slideViewPr>
    <p:cSldViewPr snapToGrid="0">
      <p:cViewPr varScale="1">
        <p:scale>
          <a:sx n="92" d="100"/>
          <a:sy n="92" d="100"/>
        </p:scale>
        <p:origin x="127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E7697-CAA0-1742-857D-B67FD3D2B4D1}" type="datetimeFigureOut">
              <a:rPr lang="en-US" smtClean="0"/>
              <a:t>6/29/2026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A8DBF2-496B-A842-8775-F438C7EE6134}" type="slidenum">
              <a:rPr lang="en-US" smtClean="0"/>
              <a:t>‹#›</a:t>
            </a:fld>
            <a:endParaRPr lang="en-US" dirty="0"/>
          </a:p>
        </p:txBody>
      </p:sp>
    </p:spTree>
    <p:extLst>
      <p:ext uri="{BB962C8B-B14F-4D97-AF65-F5344CB8AC3E}">
        <p14:creationId xmlns:p14="http://schemas.microsoft.com/office/powerpoint/2010/main" val="558774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A8DBF2-496B-A842-8775-F438C7EE6134}" type="slidenum">
              <a:rPr lang="en-US" smtClean="0"/>
              <a:t>1</a:t>
            </a:fld>
            <a:endParaRPr lang="en-US" dirty="0"/>
          </a:p>
        </p:txBody>
      </p:sp>
    </p:spTree>
    <p:extLst>
      <p:ext uri="{BB962C8B-B14F-4D97-AF65-F5344CB8AC3E}">
        <p14:creationId xmlns:p14="http://schemas.microsoft.com/office/powerpoint/2010/main" val="1172358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5BA8DBF2-496B-A842-8775-F438C7EE6134}" type="slidenum">
              <a:rPr lang="en-US" smtClean="0"/>
              <a:t>2</a:t>
            </a:fld>
            <a:endParaRPr lang="en-US" dirty="0"/>
          </a:p>
        </p:txBody>
      </p:sp>
    </p:spTree>
    <p:extLst>
      <p:ext uri="{BB962C8B-B14F-4D97-AF65-F5344CB8AC3E}">
        <p14:creationId xmlns:p14="http://schemas.microsoft.com/office/powerpoint/2010/main" val="41034287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A8DBF2-496B-A842-8775-F438C7EE6134}" type="slidenum">
              <a:rPr lang="en-US" smtClean="0"/>
              <a:t>3</a:t>
            </a:fld>
            <a:endParaRPr lang="en-US" dirty="0"/>
          </a:p>
        </p:txBody>
      </p:sp>
    </p:spTree>
    <p:extLst>
      <p:ext uri="{BB962C8B-B14F-4D97-AF65-F5344CB8AC3E}">
        <p14:creationId xmlns:p14="http://schemas.microsoft.com/office/powerpoint/2010/main" val="9886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E5458-3892-A2B4-88F7-FCBC655D46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00A0F-1F05-EA5B-A921-987952E639D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664ED588-1762-1F6D-6856-B76C43017C1B}"/>
              </a:ext>
            </a:extLst>
          </p:cNvPr>
          <p:cNvSpPr>
            <a:spLocks noGrp="1"/>
          </p:cNvSpPr>
          <p:nvPr>
            <p:ph type="body" idx="1"/>
          </p:nvPr>
        </p:nvSpPr>
        <p:spPr/>
        <p:txBody>
          <a:bodyPr/>
          <a:lstStyle/>
          <a:p>
            <a:endParaRPr lang="en-US" dirty="0">
              <a:solidFill>
                <a:schemeClr val="accent1">
                  <a:lumMod val="49000"/>
                </a:schemeClr>
              </a:solidFill>
              <a:latin typeface="Calibri"/>
              <a:ea typeface="Calibri"/>
              <a:cs typeface="Calibri"/>
            </a:endParaRPr>
          </a:p>
          <a:p>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E6D1B08D-A197-F84E-A626-7DFBAE53069C}"/>
              </a:ext>
            </a:extLst>
          </p:cNvPr>
          <p:cNvSpPr>
            <a:spLocks noGrp="1"/>
          </p:cNvSpPr>
          <p:nvPr>
            <p:ph type="sldNum" sz="quarter" idx="5"/>
          </p:nvPr>
        </p:nvSpPr>
        <p:spPr/>
        <p:txBody>
          <a:bodyPr/>
          <a:lstStyle/>
          <a:p>
            <a:fld id="{5BA8DBF2-496B-A842-8775-F438C7EE6134}" type="slidenum">
              <a:rPr lang="en-US" smtClean="0"/>
              <a:t>4</a:t>
            </a:fld>
            <a:endParaRPr lang="en-US"/>
          </a:p>
        </p:txBody>
      </p:sp>
    </p:spTree>
    <p:extLst>
      <p:ext uri="{BB962C8B-B14F-4D97-AF65-F5344CB8AC3E}">
        <p14:creationId xmlns:p14="http://schemas.microsoft.com/office/powerpoint/2010/main" val="2149562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BA8DBF2-496B-A842-8775-F438C7EE6134}" type="slidenum">
              <a:rPr lang="en-US" smtClean="0"/>
              <a:t>5</a:t>
            </a:fld>
            <a:endParaRPr lang="en-US"/>
          </a:p>
        </p:txBody>
      </p:sp>
    </p:spTree>
    <p:extLst>
      <p:ext uri="{BB962C8B-B14F-4D97-AF65-F5344CB8AC3E}">
        <p14:creationId xmlns:p14="http://schemas.microsoft.com/office/powerpoint/2010/main" val="4220706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4CC66-E7F8-A75B-CA7F-6B1417E8B0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0FA26-8FA5-D369-17F4-C7587904A2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7B6140-30E7-5CE6-A00F-F4CF796601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E73F3983-D893-A8B6-124A-5699ED28089E}"/>
              </a:ext>
            </a:extLst>
          </p:cNvPr>
          <p:cNvSpPr>
            <a:spLocks noGrp="1"/>
          </p:cNvSpPr>
          <p:nvPr>
            <p:ph type="sldNum" sz="quarter" idx="5"/>
          </p:nvPr>
        </p:nvSpPr>
        <p:spPr/>
        <p:txBody>
          <a:bodyPr/>
          <a:lstStyle/>
          <a:p>
            <a:fld id="{5BA8DBF2-496B-A842-8775-F438C7EE6134}" type="slidenum">
              <a:rPr lang="en-US" smtClean="0"/>
              <a:t>6</a:t>
            </a:fld>
            <a:endParaRPr lang="en-US"/>
          </a:p>
        </p:txBody>
      </p:sp>
    </p:spTree>
    <p:extLst>
      <p:ext uri="{BB962C8B-B14F-4D97-AF65-F5344CB8AC3E}">
        <p14:creationId xmlns:p14="http://schemas.microsoft.com/office/powerpoint/2010/main" val="37276721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1A6E8-615A-2289-1B1E-05A319200C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F4F11E-EBD1-58BB-A7FA-29079AABE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8B943-B13F-40BC-5CC6-921697FB8A7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62CB197F-B996-642E-93A3-56144FDA166B}"/>
              </a:ext>
            </a:extLst>
          </p:cNvPr>
          <p:cNvSpPr>
            <a:spLocks noGrp="1"/>
          </p:cNvSpPr>
          <p:nvPr>
            <p:ph type="sldNum" sz="quarter" idx="5"/>
          </p:nvPr>
        </p:nvSpPr>
        <p:spPr/>
        <p:txBody>
          <a:bodyPr/>
          <a:lstStyle/>
          <a:p>
            <a:fld id="{5BA8DBF2-496B-A842-8775-F438C7EE6134}" type="slidenum">
              <a:rPr lang="en-US" smtClean="0"/>
              <a:t>7</a:t>
            </a:fld>
            <a:endParaRPr lang="en-US"/>
          </a:p>
        </p:txBody>
      </p:sp>
    </p:spTree>
    <p:extLst>
      <p:ext uri="{BB962C8B-B14F-4D97-AF65-F5344CB8AC3E}">
        <p14:creationId xmlns:p14="http://schemas.microsoft.com/office/powerpoint/2010/main" val="283456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B5F8A-AFCF-E7E6-8136-825802FD5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DDAB56-4A01-4F56-789B-B137B6EC2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7E013-5767-0917-B753-B8C5CDD6D6B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6368DB8B-5861-80A3-720E-CE11C6A1E4C3}"/>
              </a:ext>
            </a:extLst>
          </p:cNvPr>
          <p:cNvSpPr>
            <a:spLocks noGrp="1"/>
          </p:cNvSpPr>
          <p:nvPr>
            <p:ph type="sldNum" sz="quarter" idx="5"/>
          </p:nvPr>
        </p:nvSpPr>
        <p:spPr/>
        <p:txBody>
          <a:bodyPr/>
          <a:lstStyle/>
          <a:p>
            <a:fld id="{5BA8DBF2-496B-A842-8775-F438C7EE6134}" type="slidenum">
              <a:rPr lang="en-US" smtClean="0"/>
              <a:t>8</a:t>
            </a:fld>
            <a:endParaRPr lang="en-US"/>
          </a:p>
        </p:txBody>
      </p:sp>
    </p:spTree>
    <p:extLst>
      <p:ext uri="{BB962C8B-B14F-4D97-AF65-F5344CB8AC3E}">
        <p14:creationId xmlns:p14="http://schemas.microsoft.com/office/powerpoint/2010/main" val="39445194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83A6-4101-856F-7B59-FD80509D9F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05786-410F-7792-C57F-97336F291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B632E-482D-9007-485D-DE7244777C54}"/>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FF688360-8946-9F25-D56A-061AC12A1D49}"/>
              </a:ext>
            </a:extLst>
          </p:cNvPr>
          <p:cNvSpPr>
            <a:spLocks noGrp="1"/>
          </p:cNvSpPr>
          <p:nvPr>
            <p:ph type="sldNum" sz="quarter" idx="5"/>
          </p:nvPr>
        </p:nvSpPr>
        <p:spPr/>
        <p:txBody>
          <a:bodyPr/>
          <a:lstStyle/>
          <a:p>
            <a:fld id="{5BA8DBF2-496B-A842-8775-F438C7EE6134}" type="slidenum">
              <a:rPr lang="en-US" smtClean="0"/>
              <a:t>9</a:t>
            </a:fld>
            <a:endParaRPr lang="en-US"/>
          </a:p>
        </p:txBody>
      </p:sp>
    </p:spTree>
    <p:extLst>
      <p:ext uri="{BB962C8B-B14F-4D97-AF65-F5344CB8AC3E}">
        <p14:creationId xmlns:p14="http://schemas.microsoft.com/office/powerpoint/2010/main" val="3248272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6A05-D407-90E5-A1E4-73742B26B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F09EB6-B42C-AE69-5EBE-2EE861184F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CF7B1-1CAF-CD44-2CC8-0ED9B9E5793A}"/>
              </a:ext>
            </a:extLst>
          </p:cNvPr>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BFD22352-8AA8-00FD-4FBD-435C06A82AAC}"/>
              </a:ext>
            </a:extLst>
          </p:cNvPr>
          <p:cNvSpPr>
            <a:spLocks noGrp="1"/>
          </p:cNvSpPr>
          <p:nvPr>
            <p:ph type="sldNum" sz="quarter" idx="5"/>
          </p:nvPr>
        </p:nvSpPr>
        <p:spPr/>
        <p:txBody>
          <a:bodyPr/>
          <a:lstStyle/>
          <a:p>
            <a:fld id="{5BA8DBF2-496B-A842-8775-F438C7EE6134}" type="slidenum">
              <a:rPr lang="en-US" smtClean="0"/>
              <a:t>10</a:t>
            </a:fld>
            <a:endParaRPr lang="en-US"/>
          </a:p>
        </p:txBody>
      </p:sp>
    </p:spTree>
    <p:extLst>
      <p:ext uri="{BB962C8B-B14F-4D97-AF65-F5344CB8AC3E}">
        <p14:creationId xmlns:p14="http://schemas.microsoft.com/office/powerpoint/2010/main" val="4003826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00DE7-2A95-9038-1B5B-35CC8214DF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5FAC5-F870-F6ED-73B7-20964EF55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A6CBF9-8483-F2E9-413B-2B09C539192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EC405CF0-1D50-E488-11EB-C928777AF15B}"/>
              </a:ext>
            </a:extLst>
          </p:cNvPr>
          <p:cNvSpPr>
            <a:spLocks noGrp="1"/>
          </p:cNvSpPr>
          <p:nvPr>
            <p:ph type="sldNum" sz="quarter" idx="5"/>
          </p:nvPr>
        </p:nvSpPr>
        <p:spPr/>
        <p:txBody>
          <a:bodyPr/>
          <a:lstStyle/>
          <a:p>
            <a:fld id="{5BA8DBF2-496B-A842-8775-F438C7EE6134}" type="slidenum">
              <a:rPr lang="en-US" smtClean="0"/>
              <a:t>11</a:t>
            </a:fld>
            <a:endParaRPr lang="en-US"/>
          </a:p>
        </p:txBody>
      </p:sp>
    </p:spTree>
    <p:extLst>
      <p:ext uri="{BB962C8B-B14F-4D97-AF65-F5344CB8AC3E}">
        <p14:creationId xmlns:p14="http://schemas.microsoft.com/office/powerpoint/2010/main" val="435982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67A14-EE64-2659-A1A7-E075DD84CC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F0BEBD-FBAF-60A5-6175-99989546D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8197E1-CB43-3B11-4BB7-2BCE530D4B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000" kern="1200" dirty="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A518DF54-1E1A-8248-835A-87A3EEB64FA1}"/>
              </a:ext>
            </a:extLst>
          </p:cNvPr>
          <p:cNvSpPr>
            <a:spLocks noGrp="1"/>
          </p:cNvSpPr>
          <p:nvPr>
            <p:ph type="sldNum" sz="quarter" idx="5"/>
          </p:nvPr>
        </p:nvSpPr>
        <p:spPr/>
        <p:txBody>
          <a:bodyPr/>
          <a:lstStyle/>
          <a:p>
            <a:fld id="{5BA8DBF2-496B-A842-8775-F438C7EE6134}" type="slidenum">
              <a:rPr lang="en-US" smtClean="0"/>
              <a:t>12</a:t>
            </a:fld>
            <a:endParaRPr lang="en-US"/>
          </a:p>
        </p:txBody>
      </p:sp>
    </p:spTree>
    <p:extLst>
      <p:ext uri="{BB962C8B-B14F-4D97-AF65-F5344CB8AC3E}">
        <p14:creationId xmlns:p14="http://schemas.microsoft.com/office/powerpoint/2010/main" val="1872048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sv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Master" Target="../slideMasters/slideMaster3.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without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91549" y="2491980"/>
            <a:ext cx="7764624" cy="1677243"/>
          </a:xfrm>
        </p:spPr>
        <p:txBody>
          <a:bodyPr anchor="b">
            <a:normAutofit/>
          </a:bodyPr>
          <a:lstStyle>
            <a:lvl1pPr algn="l">
              <a:defRPr sz="5800"/>
            </a:lvl1pPr>
          </a:lstStyle>
          <a:p>
            <a:r>
              <a:rPr lang="en-GB">
                <a:effectLst/>
              </a:rPr>
              <a:t>This is the title of </a:t>
            </a:r>
            <a:br>
              <a:rPr lang="en-GB">
                <a:effectLst/>
              </a:rPr>
            </a:br>
            <a:r>
              <a:rPr lang="en-GB">
                <a:effectLst/>
              </a:rPr>
              <a:t>the presentation</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6669" y="4442620"/>
            <a:ext cx="3861316" cy="365125"/>
          </a:xfrm>
        </p:spPr>
        <p:txBody>
          <a:bodyPr>
            <a:noAutofit/>
          </a:bodyPr>
          <a:lstStyle>
            <a:lvl1pPr marL="0" indent="0" algn="l">
              <a:buNone/>
              <a:defRPr sz="27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pic>
        <p:nvPicPr>
          <p:cNvPr id="20" name="Graphic 19">
            <a:extLst>
              <a:ext uri="{FF2B5EF4-FFF2-40B4-BE49-F238E27FC236}">
                <a16:creationId xmlns:a16="http://schemas.microsoft.com/office/drawing/2014/main" id="{5953A8C8-2A8E-FE9E-D4C8-8005EC111C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22" name="Picture 21">
            <a:extLst>
              <a:ext uri="{FF2B5EF4-FFF2-40B4-BE49-F238E27FC236}">
                <a16:creationId xmlns:a16="http://schemas.microsoft.com/office/drawing/2014/main" id="{68E15A83-C105-6231-2088-1335D7790013}"/>
              </a:ext>
            </a:extLst>
          </p:cNvPr>
          <p:cNvPicPr>
            <a:picLocks noChangeAspect="1"/>
          </p:cNvPicPr>
          <p:nvPr userDrawn="1"/>
        </p:nvPicPr>
        <p:blipFill>
          <a:blip r:embed="rId3"/>
          <a:srcRect/>
          <a:stretch/>
        </p:blipFill>
        <p:spPr>
          <a:xfrm>
            <a:off x="9082474" y="631456"/>
            <a:ext cx="2256652" cy="749140"/>
          </a:xfrm>
          <a:prstGeom prst="rect">
            <a:avLst/>
          </a:prstGeom>
        </p:spPr>
      </p:pic>
    </p:spTree>
    <p:extLst>
      <p:ext uri="{BB962C8B-B14F-4D97-AF65-F5344CB8AC3E}">
        <p14:creationId xmlns:p14="http://schemas.microsoft.com/office/powerpoint/2010/main" val="1464528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91549" y="2491980"/>
            <a:ext cx="7764624" cy="1677243"/>
          </a:xfrm>
        </p:spPr>
        <p:txBody>
          <a:bodyPr anchor="b">
            <a:normAutofit/>
          </a:bodyPr>
          <a:lstStyle>
            <a:lvl1pPr algn="l">
              <a:defRPr sz="5800"/>
            </a:lvl1pPr>
          </a:lstStyle>
          <a:p>
            <a:r>
              <a:rPr lang="en-GB">
                <a:effectLst/>
              </a:rPr>
              <a:t>This is the title of </a:t>
            </a:r>
            <a:br>
              <a:rPr lang="en-GB">
                <a:effectLst/>
              </a:rPr>
            </a:br>
            <a:r>
              <a:rPr lang="en-GB">
                <a:effectLst/>
              </a:rPr>
              <a:t>the presentation</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6669" y="4442620"/>
            <a:ext cx="3861316" cy="365125"/>
          </a:xfrm>
        </p:spPr>
        <p:txBody>
          <a:bodyPr>
            <a:noAutofit/>
          </a:bodyPr>
          <a:lstStyle>
            <a:lvl1pPr marL="0" indent="0" algn="l">
              <a:buNone/>
              <a:defRPr sz="27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pic>
        <p:nvPicPr>
          <p:cNvPr id="20" name="Graphic 19">
            <a:extLst>
              <a:ext uri="{FF2B5EF4-FFF2-40B4-BE49-F238E27FC236}">
                <a16:creationId xmlns:a16="http://schemas.microsoft.com/office/drawing/2014/main" id="{5953A8C8-2A8E-FE9E-D4C8-8005EC111C5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22" name="Picture 21">
            <a:extLst>
              <a:ext uri="{FF2B5EF4-FFF2-40B4-BE49-F238E27FC236}">
                <a16:creationId xmlns:a16="http://schemas.microsoft.com/office/drawing/2014/main" id="{68E15A83-C105-6231-2088-1335D7790013}"/>
              </a:ext>
            </a:extLst>
          </p:cNvPr>
          <p:cNvPicPr>
            <a:picLocks noChangeAspect="1"/>
          </p:cNvPicPr>
          <p:nvPr userDrawn="1"/>
        </p:nvPicPr>
        <p:blipFill>
          <a:blip r:embed="rId3"/>
          <a:srcRect/>
          <a:stretch/>
        </p:blipFill>
        <p:spPr>
          <a:xfrm>
            <a:off x="9082474" y="631456"/>
            <a:ext cx="2256652" cy="749140"/>
          </a:xfrm>
          <a:prstGeom prst="rect">
            <a:avLst/>
          </a:prstGeom>
        </p:spPr>
      </p:pic>
      <p:sp>
        <p:nvSpPr>
          <p:cNvPr id="23" name="Picture Placeholder 22">
            <a:extLst>
              <a:ext uri="{FF2B5EF4-FFF2-40B4-BE49-F238E27FC236}">
                <a16:creationId xmlns:a16="http://schemas.microsoft.com/office/drawing/2014/main" id="{AB59CAEA-0C91-384B-37F6-3CDFB7A40B8A}"/>
              </a:ext>
            </a:extLst>
          </p:cNvPr>
          <p:cNvSpPr>
            <a:spLocks noGrp="1"/>
          </p:cNvSpPr>
          <p:nvPr>
            <p:ph type="pic" sz="quarter" idx="10"/>
          </p:nvPr>
        </p:nvSpPr>
        <p:spPr>
          <a:xfrm>
            <a:off x="6682733" y="1935117"/>
            <a:ext cx="5509267" cy="4850216"/>
          </a:xfrm>
          <a:custGeom>
            <a:avLst/>
            <a:gdLst>
              <a:gd name="connsiteX0" fmla="*/ 4125218 w 5509267"/>
              <a:gd name="connsiteY0" fmla="*/ 0 h 4850216"/>
              <a:gd name="connsiteX1" fmla="*/ 5509267 w 5509267"/>
              <a:gd name="connsiteY1" fmla="*/ 0 h 4850216"/>
              <a:gd name="connsiteX2" fmla="*/ 5509267 w 5509267"/>
              <a:gd name="connsiteY2" fmla="*/ 1025249 h 4850216"/>
              <a:gd name="connsiteX3" fmla="*/ 5509267 w 5509267"/>
              <a:gd name="connsiteY3" fmla="*/ 2064733 h 4850216"/>
              <a:gd name="connsiteX4" fmla="*/ 5509267 w 5509267"/>
              <a:gd name="connsiteY4" fmla="*/ 4850216 h 4850216"/>
              <a:gd name="connsiteX5" fmla="*/ 64707 w 5509267"/>
              <a:gd name="connsiteY5" fmla="*/ 4850216 h 4850216"/>
              <a:gd name="connsiteX6" fmla="*/ 0 w 5509267"/>
              <a:gd name="connsiteY6" fmla="*/ 4119462 h 4850216"/>
              <a:gd name="connsiteX7" fmla="*/ 4125218 w 5509267"/>
              <a:gd name="connsiteY7" fmla="*/ 0 h 485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9267" h="4850216">
                <a:moveTo>
                  <a:pt x="4125218" y="0"/>
                </a:moveTo>
                <a:cubicBezTo>
                  <a:pt x="4496940" y="0"/>
                  <a:pt x="4972933" y="0"/>
                  <a:pt x="5509267" y="0"/>
                </a:cubicBezTo>
                <a:lnTo>
                  <a:pt x="5509267" y="1025249"/>
                </a:lnTo>
                <a:lnTo>
                  <a:pt x="5509267" y="2064733"/>
                </a:lnTo>
                <a:lnTo>
                  <a:pt x="5509267" y="4850216"/>
                </a:lnTo>
                <a:lnTo>
                  <a:pt x="64707" y="4850216"/>
                </a:lnTo>
                <a:cubicBezTo>
                  <a:pt x="22190" y="4613050"/>
                  <a:pt x="0" y="4368844"/>
                  <a:pt x="0" y="4119462"/>
                </a:cubicBezTo>
                <a:cubicBezTo>
                  <a:pt x="0" y="1844346"/>
                  <a:pt x="1846923" y="0"/>
                  <a:pt x="4125218" y="0"/>
                </a:cubicBezTo>
                <a:close/>
              </a:path>
            </a:pathLst>
          </a:custGeom>
        </p:spPr>
        <p:txBody>
          <a:bodyPr wrap="square">
            <a:noAutofit/>
          </a:bodyPr>
          <a:lstStyle>
            <a:lvl1pPr marL="0" indent="0">
              <a:buNone/>
              <a:defRPr/>
            </a:lvl1pPr>
          </a:lstStyle>
          <a:p>
            <a:endParaRPr lang="en-US" dirty="0"/>
          </a:p>
        </p:txBody>
      </p:sp>
    </p:spTree>
    <p:extLst>
      <p:ext uri="{BB962C8B-B14F-4D97-AF65-F5344CB8AC3E}">
        <p14:creationId xmlns:p14="http://schemas.microsoft.com/office/powerpoint/2010/main" val="374120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Dark)">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8551F9C-AA06-206B-3DFC-247E8F8AC3BD}"/>
              </a:ext>
            </a:extLst>
          </p:cNvPr>
          <p:cNvPicPr>
            <a:picLocks noChangeAspect="1"/>
          </p:cNvPicPr>
          <p:nvPr userDrawn="1"/>
        </p:nvPicPr>
        <p:blipFill>
          <a:blip r:embed="rId2"/>
          <a:srcRect/>
          <a:stretch/>
        </p:blipFill>
        <p:spPr>
          <a:xfrm>
            <a:off x="9287596" y="631456"/>
            <a:ext cx="2034416" cy="749140"/>
          </a:xfrm>
          <a:prstGeom prst="rect">
            <a:avLst/>
          </a:prstGeom>
        </p:spPr>
      </p:pic>
      <p:pic>
        <p:nvPicPr>
          <p:cNvPr id="6" name="Graphic 5">
            <a:extLst>
              <a:ext uri="{FF2B5EF4-FFF2-40B4-BE49-F238E27FC236}">
                <a16:creationId xmlns:a16="http://schemas.microsoft.com/office/drawing/2014/main" id="{173D8B9C-A232-8A25-D920-8CE1CD4DFF7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850605" y="809162"/>
            <a:ext cx="2870789" cy="629559"/>
          </a:xfrm>
          <a:prstGeom prst="rect">
            <a:avLst/>
          </a:prstGeom>
        </p:spPr>
      </p:pic>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91549" y="2491980"/>
            <a:ext cx="7764624" cy="1677243"/>
          </a:xfrm>
        </p:spPr>
        <p:txBody>
          <a:bodyPr anchor="b">
            <a:normAutofit/>
          </a:bodyPr>
          <a:lstStyle>
            <a:lvl1pPr algn="l">
              <a:defRPr sz="5800">
                <a:solidFill>
                  <a:schemeClr val="bg1"/>
                </a:solidFill>
              </a:defRPr>
            </a:lvl1pPr>
          </a:lstStyle>
          <a:p>
            <a:r>
              <a:rPr lang="en-GB">
                <a:effectLst/>
              </a:rPr>
              <a:t>This is the title of </a:t>
            </a:r>
            <a:br>
              <a:rPr lang="en-GB">
                <a:effectLst/>
              </a:rPr>
            </a:br>
            <a:r>
              <a:rPr lang="en-GB">
                <a:effectLst/>
              </a:rPr>
              <a:t>the presentation</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6669" y="4442620"/>
            <a:ext cx="3861316" cy="365125"/>
          </a:xfrm>
        </p:spPr>
        <p:txBody>
          <a:bodyPr>
            <a:noAutofit/>
          </a:bodyPr>
          <a:lstStyle>
            <a:lvl1pPr marL="0" indent="0" algn="l">
              <a:buNone/>
              <a:defRPr sz="27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sp>
        <p:nvSpPr>
          <p:cNvPr id="23" name="Picture Placeholder 22">
            <a:extLst>
              <a:ext uri="{FF2B5EF4-FFF2-40B4-BE49-F238E27FC236}">
                <a16:creationId xmlns:a16="http://schemas.microsoft.com/office/drawing/2014/main" id="{AB59CAEA-0C91-384B-37F6-3CDFB7A40B8A}"/>
              </a:ext>
            </a:extLst>
          </p:cNvPr>
          <p:cNvSpPr>
            <a:spLocks noGrp="1"/>
          </p:cNvSpPr>
          <p:nvPr>
            <p:ph type="pic" sz="quarter" idx="10"/>
          </p:nvPr>
        </p:nvSpPr>
        <p:spPr>
          <a:xfrm>
            <a:off x="6682733" y="1935112"/>
            <a:ext cx="5509267" cy="4850216"/>
          </a:xfrm>
          <a:custGeom>
            <a:avLst/>
            <a:gdLst>
              <a:gd name="connsiteX0" fmla="*/ 4125218 w 5509267"/>
              <a:gd name="connsiteY0" fmla="*/ 0 h 4850216"/>
              <a:gd name="connsiteX1" fmla="*/ 5509267 w 5509267"/>
              <a:gd name="connsiteY1" fmla="*/ 0 h 4850216"/>
              <a:gd name="connsiteX2" fmla="*/ 5509267 w 5509267"/>
              <a:gd name="connsiteY2" fmla="*/ 1025249 h 4850216"/>
              <a:gd name="connsiteX3" fmla="*/ 5509267 w 5509267"/>
              <a:gd name="connsiteY3" fmla="*/ 2064733 h 4850216"/>
              <a:gd name="connsiteX4" fmla="*/ 5509267 w 5509267"/>
              <a:gd name="connsiteY4" fmla="*/ 4850216 h 4850216"/>
              <a:gd name="connsiteX5" fmla="*/ 64707 w 5509267"/>
              <a:gd name="connsiteY5" fmla="*/ 4850216 h 4850216"/>
              <a:gd name="connsiteX6" fmla="*/ 0 w 5509267"/>
              <a:gd name="connsiteY6" fmla="*/ 4119462 h 4850216"/>
              <a:gd name="connsiteX7" fmla="*/ 4125218 w 5509267"/>
              <a:gd name="connsiteY7" fmla="*/ 0 h 4850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09267" h="4850216">
                <a:moveTo>
                  <a:pt x="4125218" y="0"/>
                </a:moveTo>
                <a:cubicBezTo>
                  <a:pt x="4496940" y="0"/>
                  <a:pt x="4972933" y="0"/>
                  <a:pt x="5509267" y="0"/>
                </a:cubicBezTo>
                <a:lnTo>
                  <a:pt x="5509267" y="1025249"/>
                </a:lnTo>
                <a:lnTo>
                  <a:pt x="5509267" y="2064733"/>
                </a:lnTo>
                <a:lnTo>
                  <a:pt x="5509267" y="4850216"/>
                </a:lnTo>
                <a:lnTo>
                  <a:pt x="64707" y="4850216"/>
                </a:lnTo>
                <a:cubicBezTo>
                  <a:pt x="22190" y="4613050"/>
                  <a:pt x="0" y="4368844"/>
                  <a:pt x="0" y="4119462"/>
                </a:cubicBezTo>
                <a:cubicBezTo>
                  <a:pt x="0" y="1844346"/>
                  <a:pt x="1846923" y="0"/>
                  <a:pt x="4125218" y="0"/>
                </a:cubicBezTo>
                <a:close/>
              </a:path>
            </a:pathLst>
          </a:custGeom>
        </p:spPr>
        <p:txBody>
          <a:bodyPr wrap="square">
            <a:noAutofit/>
          </a:bodyPr>
          <a:lstStyle>
            <a:lvl1pPr marL="0" indent="0">
              <a:buNone/>
              <a:defRPr/>
            </a:lvl1pPr>
          </a:lstStyle>
          <a:p>
            <a:endParaRPr lang="en-US" dirty="0"/>
          </a:p>
        </p:txBody>
      </p:sp>
      <p:sp>
        <p:nvSpPr>
          <p:cNvPr id="5" name="TextBox 4">
            <a:extLst>
              <a:ext uri="{FF2B5EF4-FFF2-40B4-BE49-F238E27FC236}">
                <a16:creationId xmlns:a16="http://schemas.microsoft.com/office/drawing/2014/main" id="{7444D8EA-A672-6846-C041-D5AC363BC948}"/>
              </a:ext>
            </a:extLst>
          </p:cNvPr>
          <p:cNvSpPr txBox="1"/>
          <p:nvPr userDrawn="1"/>
        </p:nvSpPr>
        <p:spPr>
          <a:xfrm>
            <a:off x="3295291" y="6788989"/>
            <a:ext cx="184731" cy="369332"/>
          </a:xfrm>
          <a:prstGeom prst="rect">
            <a:avLst/>
          </a:prstGeom>
          <a:noFill/>
        </p:spPr>
        <p:txBody>
          <a:bodyPr wrap="none" rtlCol="0">
            <a:spAutoFit/>
          </a:bodyPr>
          <a:lstStyle/>
          <a:p>
            <a:endParaRPr lang="en-US" dirty="0"/>
          </a:p>
        </p:txBody>
      </p:sp>
      <p:pic>
        <p:nvPicPr>
          <p:cNvPr id="10" name="Picture 9">
            <a:extLst>
              <a:ext uri="{FF2B5EF4-FFF2-40B4-BE49-F238E27FC236}">
                <a16:creationId xmlns:a16="http://schemas.microsoft.com/office/drawing/2014/main" id="{684D41D9-6B96-63AC-C1DD-A2840AB547C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2915424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0" y="1839702"/>
            <a:ext cx="6043503"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sit.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a:t>
            </a:r>
            <a:endParaRPr lang="en-GB"/>
          </a:p>
        </p:txBody>
      </p:sp>
      <p:sp>
        <p:nvSpPr>
          <p:cNvPr id="10" name="Picture Placeholder 9">
            <a:extLst>
              <a:ext uri="{FF2B5EF4-FFF2-40B4-BE49-F238E27FC236}">
                <a16:creationId xmlns:a16="http://schemas.microsoft.com/office/drawing/2014/main" id="{7467C051-90C9-9760-EE5C-F113B036F2C9}"/>
              </a:ext>
            </a:extLst>
          </p:cNvPr>
          <p:cNvSpPr>
            <a:spLocks noGrp="1"/>
          </p:cNvSpPr>
          <p:nvPr>
            <p:ph type="pic" sz="quarter" idx="11"/>
          </p:nvPr>
        </p:nvSpPr>
        <p:spPr>
          <a:xfrm>
            <a:off x="6749622" y="1113167"/>
            <a:ext cx="5442377" cy="5671202"/>
          </a:xfrm>
          <a:custGeom>
            <a:avLst/>
            <a:gdLst>
              <a:gd name="connsiteX0" fmla="*/ 5442377 w 5442377"/>
              <a:gd name="connsiteY0" fmla="*/ 0 h 5671202"/>
              <a:gd name="connsiteX1" fmla="*/ 5442377 w 5442377"/>
              <a:gd name="connsiteY1" fmla="*/ 171263 h 5671202"/>
              <a:gd name="connsiteX2" fmla="*/ 5442377 w 5442377"/>
              <a:gd name="connsiteY2" fmla="*/ 826186 h 5671202"/>
              <a:gd name="connsiteX3" fmla="*/ 5442377 w 5442377"/>
              <a:gd name="connsiteY3" fmla="*/ 5378671 h 5671202"/>
              <a:gd name="connsiteX4" fmla="*/ 5442377 w 5442377"/>
              <a:gd name="connsiteY4" fmla="*/ 5671202 h 5671202"/>
              <a:gd name="connsiteX5" fmla="*/ 0 w 5442377"/>
              <a:gd name="connsiteY5" fmla="*/ 5671202 h 5671202"/>
              <a:gd name="connsiteX6" fmla="*/ 5442377 w 5442377"/>
              <a:gd name="connsiteY6" fmla="*/ 0 h 567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2377" h="5671202">
                <a:moveTo>
                  <a:pt x="5442377" y="0"/>
                </a:moveTo>
                <a:lnTo>
                  <a:pt x="5442377" y="171263"/>
                </a:lnTo>
                <a:lnTo>
                  <a:pt x="5442377" y="826186"/>
                </a:lnTo>
                <a:lnTo>
                  <a:pt x="5442377" y="5378671"/>
                </a:lnTo>
                <a:lnTo>
                  <a:pt x="5442377" y="5671202"/>
                </a:lnTo>
                <a:lnTo>
                  <a:pt x="0" y="5671202"/>
                </a:lnTo>
                <a:cubicBezTo>
                  <a:pt x="0" y="2508950"/>
                  <a:pt x="2639608" y="96819"/>
                  <a:pt x="5442377"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18498874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49E9807-481F-789A-A4A4-18908DDAA257}"/>
              </a:ext>
            </a:extLst>
          </p:cNvPr>
          <p:cNvSpPr txBox="1"/>
          <p:nvPr userDrawn="1"/>
        </p:nvSpPr>
        <p:spPr>
          <a:xfrm>
            <a:off x="673694" y="2515317"/>
            <a:ext cx="5734228" cy="895350"/>
          </a:xfrm>
          <a:prstGeom prst="rect">
            <a:avLst/>
          </a:prstGeom>
          <a:noFill/>
        </p:spPr>
        <p:txBody>
          <a:bodyPr wrap="square" rtlCol="0">
            <a:spAutoFit/>
          </a:bodyPr>
          <a:lstStyle/>
          <a:p>
            <a:r>
              <a:rPr lang="en-GB" sz="5800" b="1" i="0" dirty="0">
                <a:solidFill>
                  <a:schemeClr val="tx1"/>
                </a:solidFill>
                <a:effectLst/>
                <a:latin typeface="Arial" panose="020B0604020202020204" pitchFamily="34" charset="0"/>
                <a:cs typeface="Arial" panose="020B0604020202020204" pitchFamily="34" charset="0"/>
              </a:rPr>
              <a:t>Thank you</a:t>
            </a:r>
            <a:endParaRPr lang="en-US" sz="5800" b="1" i="0" dirty="0">
              <a:solidFill>
                <a:schemeClr val="tx1"/>
              </a:solidFill>
              <a:latin typeface="Arial" panose="020B0604020202020204" pitchFamily="34" charset="0"/>
              <a:cs typeface="Arial" panose="020B0604020202020204" pitchFamily="34" charset="0"/>
            </a:endParaRPr>
          </a:p>
        </p:txBody>
      </p:sp>
      <p:sp>
        <p:nvSpPr>
          <p:cNvPr id="10" name="Text Placeholder 9">
            <a:extLst>
              <a:ext uri="{FF2B5EF4-FFF2-40B4-BE49-F238E27FC236}">
                <a16:creationId xmlns:a16="http://schemas.microsoft.com/office/drawing/2014/main" id="{1B1349BE-906A-ADCF-254A-90974832D629}"/>
              </a:ext>
            </a:extLst>
          </p:cNvPr>
          <p:cNvSpPr>
            <a:spLocks noGrp="1"/>
          </p:cNvSpPr>
          <p:nvPr>
            <p:ph type="body" sz="quarter" idx="10" hasCustomPrompt="1"/>
          </p:nvPr>
        </p:nvSpPr>
        <p:spPr>
          <a:xfrm>
            <a:off x="749578" y="4280572"/>
            <a:ext cx="5327709" cy="751898"/>
          </a:xfrm>
        </p:spPr>
        <p:txBody>
          <a:bodyPr>
            <a:normAutofit/>
          </a:bodyPr>
          <a:lstStyle>
            <a:lvl1pPr marL="0" indent="0">
              <a:lnSpc>
                <a:spcPts val="2000"/>
              </a:lnSpc>
              <a:spcBef>
                <a:spcPts val="0"/>
              </a:spcBef>
              <a:buNone/>
              <a:defRPr sz="1500" b="1" i="0">
                <a:latin typeface="Arial" panose="020B0604020202020204" pitchFamily="34" charset="0"/>
                <a:cs typeface="Arial" panose="020B0604020202020204" pitchFamily="34" charset="0"/>
              </a:defRPr>
            </a:lvl1pPr>
          </a:lstStyle>
          <a:p>
            <a:pPr lvl="0"/>
            <a:r>
              <a:rPr lang="en-GB"/>
              <a:t>Placeholder name</a:t>
            </a:r>
          </a:p>
        </p:txBody>
      </p:sp>
      <p:sp>
        <p:nvSpPr>
          <p:cNvPr id="11" name="Text Placeholder 9">
            <a:extLst>
              <a:ext uri="{FF2B5EF4-FFF2-40B4-BE49-F238E27FC236}">
                <a16:creationId xmlns:a16="http://schemas.microsoft.com/office/drawing/2014/main" id="{5CA63458-9D1B-FB23-96E4-5BE3EFB192DD}"/>
              </a:ext>
            </a:extLst>
          </p:cNvPr>
          <p:cNvSpPr>
            <a:spLocks noGrp="1"/>
          </p:cNvSpPr>
          <p:nvPr>
            <p:ph type="body" sz="quarter" idx="11" hasCustomPrompt="1"/>
          </p:nvPr>
        </p:nvSpPr>
        <p:spPr>
          <a:xfrm>
            <a:off x="749577" y="4531523"/>
            <a:ext cx="5327709" cy="512897"/>
          </a:xfrm>
        </p:spPr>
        <p:txBody>
          <a:bodyPr>
            <a:normAutofit/>
          </a:bodyPr>
          <a:lstStyle>
            <a:lvl1pPr marL="0" indent="0">
              <a:lnSpc>
                <a:spcPts val="2000"/>
              </a:lnSpc>
              <a:spcBef>
                <a:spcPts val="0"/>
              </a:spcBef>
              <a:buNone/>
              <a:defRPr sz="1500" b="0" i="0">
                <a:latin typeface="Arial" panose="020B0604020202020204" pitchFamily="34" charset="0"/>
                <a:cs typeface="Arial" panose="020B0604020202020204" pitchFamily="34" charset="0"/>
              </a:defRPr>
            </a:lvl1pPr>
          </a:lstStyle>
          <a:p>
            <a:pPr lvl="0"/>
            <a:r>
              <a:rPr lang="en-GB" err="1"/>
              <a:t>placeholderemail@healthiertogther.org</a:t>
            </a:r>
            <a:endParaRPr lang="en-GB"/>
          </a:p>
          <a:p>
            <a:pPr lvl="0"/>
            <a:r>
              <a:rPr lang="en-GB"/>
              <a:t>01234567890</a:t>
            </a:r>
            <a:endParaRPr lang="en-US"/>
          </a:p>
        </p:txBody>
      </p:sp>
      <p:pic>
        <p:nvPicPr>
          <p:cNvPr id="2" name="Graphic 1">
            <a:extLst>
              <a:ext uri="{FF2B5EF4-FFF2-40B4-BE49-F238E27FC236}">
                <a16:creationId xmlns:a16="http://schemas.microsoft.com/office/drawing/2014/main" id="{36A58167-8AEE-B552-476D-68E309DA213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3" name="Picture 2">
            <a:extLst>
              <a:ext uri="{FF2B5EF4-FFF2-40B4-BE49-F238E27FC236}">
                <a16:creationId xmlns:a16="http://schemas.microsoft.com/office/drawing/2014/main" id="{67534328-D49C-520D-1788-15A143AC7D92}"/>
              </a:ext>
            </a:extLst>
          </p:cNvPr>
          <p:cNvPicPr>
            <a:picLocks noChangeAspect="1"/>
          </p:cNvPicPr>
          <p:nvPr userDrawn="1"/>
        </p:nvPicPr>
        <p:blipFill>
          <a:blip r:embed="rId3"/>
          <a:srcRect/>
          <a:stretch/>
        </p:blipFill>
        <p:spPr>
          <a:xfrm>
            <a:off x="9082475" y="631456"/>
            <a:ext cx="2256652" cy="749140"/>
          </a:xfrm>
          <a:prstGeom prst="rect">
            <a:avLst/>
          </a:prstGeom>
        </p:spPr>
      </p:pic>
    </p:spTree>
    <p:extLst>
      <p:ext uri="{BB962C8B-B14F-4D97-AF65-F5344CB8AC3E}">
        <p14:creationId xmlns:p14="http://schemas.microsoft.com/office/powerpoint/2010/main" val="1894294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Dar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66670" y="2102049"/>
            <a:ext cx="5573746" cy="1677243"/>
          </a:xfrm>
        </p:spPr>
        <p:txBody>
          <a:bodyPr anchor="b">
            <a:normAutofit/>
          </a:bodyPr>
          <a:lstStyle>
            <a:lvl1pPr algn="l">
              <a:defRPr sz="5000">
                <a:solidFill>
                  <a:schemeClr val="bg1"/>
                </a:solidFill>
              </a:defRPr>
            </a:lvl1pPr>
          </a:lstStyle>
          <a:p>
            <a:r>
              <a:rPr lang="en-GB">
                <a:effectLst/>
              </a:rPr>
              <a:t>This is the title of </a:t>
            </a:r>
            <a:br>
              <a:rPr lang="en-GB">
                <a:effectLst/>
              </a:rPr>
            </a:br>
            <a:r>
              <a:rPr lang="en-GB">
                <a:effectLst/>
              </a:rPr>
              <a:t>a section slide</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2395" y="3992037"/>
            <a:ext cx="3861316" cy="365125"/>
          </a:xfrm>
        </p:spPr>
        <p:txBody>
          <a:bodyPr>
            <a:noAutofit/>
          </a:bodyPr>
          <a:lstStyle>
            <a:lvl1pPr marL="0" indent="0" algn="l">
              <a:buNone/>
              <a:defRPr sz="25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pic>
        <p:nvPicPr>
          <p:cNvPr id="20" name="Graphic 19">
            <a:extLst>
              <a:ext uri="{FF2B5EF4-FFF2-40B4-BE49-F238E27FC236}">
                <a16:creationId xmlns:a16="http://schemas.microsoft.com/office/drawing/2014/main" id="{5953A8C8-2A8E-FE9E-D4C8-8005EC111C5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850605" y="809162"/>
            <a:ext cx="2870789" cy="629559"/>
          </a:xfrm>
          <a:prstGeom prst="rect">
            <a:avLst/>
          </a:prstGeom>
        </p:spPr>
      </p:pic>
      <p:pic>
        <p:nvPicPr>
          <p:cNvPr id="22" name="Picture 21">
            <a:extLst>
              <a:ext uri="{FF2B5EF4-FFF2-40B4-BE49-F238E27FC236}">
                <a16:creationId xmlns:a16="http://schemas.microsoft.com/office/drawing/2014/main" id="{68E15A83-C105-6231-2088-1335D7790013}"/>
              </a:ext>
            </a:extLst>
          </p:cNvPr>
          <p:cNvPicPr>
            <a:picLocks noChangeAspect="1"/>
          </p:cNvPicPr>
          <p:nvPr userDrawn="1"/>
        </p:nvPicPr>
        <p:blipFill>
          <a:blip r:embed="rId3"/>
          <a:srcRect/>
          <a:stretch/>
        </p:blipFill>
        <p:spPr>
          <a:xfrm>
            <a:off x="9287596" y="631456"/>
            <a:ext cx="2034416" cy="749140"/>
          </a:xfrm>
          <a:prstGeom prst="rect">
            <a:avLst/>
          </a:prstGeom>
        </p:spPr>
      </p:pic>
      <p:sp>
        <p:nvSpPr>
          <p:cNvPr id="15" name="Picture Placeholder 14">
            <a:extLst>
              <a:ext uri="{FF2B5EF4-FFF2-40B4-BE49-F238E27FC236}">
                <a16:creationId xmlns:a16="http://schemas.microsoft.com/office/drawing/2014/main" id="{3E91CEAF-FF6E-8FD5-BFDA-E38D01BC4820}"/>
              </a:ext>
            </a:extLst>
          </p:cNvPr>
          <p:cNvSpPr>
            <a:spLocks noGrp="1"/>
          </p:cNvSpPr>
          <p:nvPr>
            <p:ph type="pic" sz="quarter" idx="10"/>
          </p:nvPr>
        </p:nvSpPr>
        <p:spPr>
          <a:xfrm>
            <a:off x="6186893" y="1650309"/>
            <a:ext cx="6001412" cy="5140114"/>
          </a:xfrm>
          <a:custGeom>
            <a:avLst/>
            <a:gdLst>
              <a:gd name="connsiteX0" fmla="*/ 3107437 w 6001412"/>
              <a:gd name="connsiteY0" fmla="*/ 0 h 5140114"/>
              <a:gd name="connsiteX1" fmla="*/ 6001412 w 6001412"/>
              <a:gd name="connsiteY1" fmla="*/ 0 h 5140114"/>
              <a:gd name="connsiteX2" fmla="*/ 6001412 w 6001412"/>
              <a:gd name="connsiteY2" fmla="*/ 1209937 h 5140114"/>
              <a:gd name="connsiteX3" fmla="*/ 6001412 w 6001412"/>
              <a:gd name="connsiteY3" fmla="*/ 2458112 h 5140114"/>
              <a:gd name="connsiteX4" fmla="*/ 6001412 w 6001412"/>
              <a:gd name="connsiteY4" fmla="*/ 5140114 h 5140114"/>
              <a:gd name="connsiteX5" fmla="*/ 755013 w 6001412"/>
              <a:gd name="connsiteY5" fmla="*/ 5140114 h 5140114"/>
              <a:gd name="connsiteX6" fmla="*/ 0 w 6001412"/>
              <a:gd name="connsiteY6" fmla="*/ 3108803 h 5140114"/>
              <a:gd name="connsiteX7" fmla="*/ 3107437 w 6001412"/>
              <a:gd name="connsiteY7" fmla="*/ 0 h 514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1412" h="5140114">
                <a:moveTo>
                  <a:pt x="3107437" y="0"/>
                </a:moveTo>
                <a:cubicBezTo>
                  <a:pt x="3775063" y="0"/>
                  <a:pt x="4889204" y="0"/>
                  <a:pt x="6001412" y="0"/>
                </a:cubicBezTo>
                <a:lnTo>
                  <a:pt x="6001412" y="1209937"/>
                </a:lnTo>
                <a:lnTo>
                  <a:pt x="6001412" y="2458112"/>
                </a:lnTo>
                <a:lnTo>
                  <a:pt x="6001412" y="5140114"/>
                </a:lnTo>
                <a:lnTo>
                  <a:pt x="755013" y="5140114"/>
                </a:lnTo>
                <a:cubicBezTo>
                  <a:pt x="284547" y="4595284"/>
                  <a:pt x="0" y="3885290"/>
                  <a:pt x="0" y="3108803"/>
                </a:cubicBezTo>
                <a:cubicBezTo>
                  <a:pt x="0" y="1391855"/>
                  <a:pt x="1391244" y="0"/>
                  <a:pt x="3107437" y="0"/>
                </a:cubicBezTo>
                <a:close/>
              </a:path>
            </a:pathLst>
          </a:custGeom>
        </p:spPr>
        <p:txBody>
          <a:bodyPr wrap="square">
            <a:noAutofit/>
          </a:bodyPr>
          <a:lstStyle/>
          <a:p>
            <a:endParaRPr lang="en-US" dirty="0"/>
          </a:p>
        </p:txBody>
      </p:sp>
      <p:pic>
        <p:nvPicPr>
          <p:cNvPr id="4" name="Picture 3">
            <a:extLst>
              <a:ext uri="{FF2B5EF4-FFF2-40B4-BE49-F238E27FC236}">
                <a16:creationId xmlns:a16="http://schemas.microsoft.com/office/drawing/2014/main" id="{150C512A-CDD2-0819-7D30-3611F87F8FE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695" y="6771143"/>
            <a:ext cx="12192000" cy="86857"/>
          </a:xfrm>
          <a:prstGeom prst="rect">
            <a:avLst/>
          </a:prstGeom>
        </p:spPr>
      </p:pic>
    </p:spTree>
    <p:extLst>
      <p:ext uri="{BB962C8B-B14F-4D97-AF65-F5344CB8AC3E}">
        <p14:creationId xmlns:p14="http://schemas.microsoft.com/office/powerpoint/2010/main" val="3156312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Whit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56C9-40F4-25C2-AB3F-47395D35253A}"/>
              </a:ext>
            </a:extLst>
          </p:cNvPr>
          <p:cNvSpPr>
            <a:spLocks noGrp="1"/>
          </p:cNvSpPr>
          <p:nvPr>
            <p:ph type="ctrTitle" hasCustomPrompt="1"/>
          </p:nvPr>
        </p:nvSpPr>
        <p:spPr>
          <a:xfrm>
            <a:off x="766669" y="2102049"/>
            <a:ext cx="5590999" cy="1677243"/>
          </a:xfrm>
        </p:spPr>
        <p:txBody>
          <a:bodyPr anchor="b">
            <a:normAutofit/>
          </a:bodyPr>
          <a:lstStyle>
            <a:lvl1pPr algn="l">
              <a:defRPr sz="5000">
                <a:solidFill>
                  <a:schemeClr val="tx1"/>
                </a:solidFill>
              </a:defRPr>
            </a:lvl1pPr>
          </a:lstStyle>
          <a:p>
            <a:r>
              <a:rPr lang="en-GB">
                <a:effectLst/>
              </a:rPr>
              <a:t>This is the title of </a:t>
            </a:r>
            <a:br>
              <a:rPr lang="en-GB">
                <a:effectLst/>
              </a:rPr>
            </a:br>
            <a:r>
              <a:rPr lang="en-GB">
                <a:effectLst/>
              </a:rPr>
              <a:t>a section slide</a:t>
            </a:r>
            <a:endParaRPr lang="en-US"/>
          </a:p>
        </p:txBody>
      </p:sp>
      <p:sp>
        <p:nvSpPr>
          <p:cNvPr id="3" name="Subtitle 2">
            <a:extLst>
              <a:ext uri="{FF2B5EF4-FFF2-40B4-BE49-F238E27FC236}">
                <a16:creationId xmlns:a16="http://schemas.microsoft.com/office/drawing/2014/main" id="{6A4A89C3-DF8F-91C4-5C2C-3B54E95C2CB3}"/>
              </a:ext>
            </a:extLst>
          </p:cNvPr>
          <p:cNvSpPr>
            <a:spLocks noGrp="1"/>
          </p:cNvSpPr>
          <p:nvPr>
            <p:ph type="subTitle" idx="1" hasCustomPrompt="1"/>
          </p:nvPr>
        </p:nvSpPr>
        <p:spPr>
          <a:xfrm>
            <a:off x="762395" y="3992037"/>
            <a:ext cx="3861316" cy="365125"/>
          </a:xfrm>
        </p:spPr>
        <p:txBody>
          <a:bodyPr>
            <a:noAutofit/>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Example sub-header</a:t>
            </a:r>
            <a:endParaRPr lang="en-US"/>
          </a:p>
        </p:txBody>
      </p:sp>
      <p:sp>
        <p:nvSpPr>
          <p:cNvPr id="15" name="Picture Placeholder 14">
            <a:extLst>
              <a:ext uri="{FF2B5EF4-FFF2-40B4-BE49-F238E27FC236}">
                <a16:creationId xmlns:a16="http://schemas.microsoft.com/office/drawing/2014/main" id="{3E91CEAF-FF6E-8FD5-BFDA-E38D01BC4820}"/>
              </a:ext>
            </a:extLst>
          </p:cNvPr>
          <p:cNvSpPr>
            <a:spLocks noGrp="1"/>
          </p:cNvSpPr>
          <p:nvPr>
            <p:ph type="pic" sz="quarter" idx="10"/>
          </p:nvPr>
        </p:nvSpPr>
        <p:spPr>
          <a:xfrm>
            <a:off x="6190588" y="1645886"/>
            <a:ext cx="6001412" cy="5140114"/>
          </a:xfrm>
          <a:custGeom>
            <a:avLst/>
            <a:gdLst>
              <a:gd name="connsiteX0" fmla="*/ 3107437 w 6001412"/>
              <a:gd name="connsiteY0" fmla="*/ 0 h 5140114"/>
              <a:gd name="connsiteX1" fmla="*/ 6001412 w 6001412"/>
              <a:gd name="connsiteY1" fmla="*/ 0 h 5140114"/>
              <a:gd name="connsiteX2" fmla="*/ 6001412 w 6001412"/>
              <a:gd name="connsiteY2" fmla="*/ 1209937 h 5140114"/>
              <a:gd name="connsiteX3" fmla="*/ 6001412 w 6001412"/>
              <a:gd name="connsiteY3" fmla="*/ 2458112 h 5140114"/>
              <a:gd name="connsiteX4" fmla="*/ 6001412 w 6001412"/>
              <a:gd name="connsiteY4" fmla="*/ 5140114 h 5140114"/>
              <a:gd name="connsiteX5" fmla="*/ 755013 w 6001412"/>
              <a:gd name="connsiteY5" fmla="*/ 5140114 h 5140114"/>
              <a:gd name="connsiteX6" fmla="*/ 0 w 6001412"/>
              <a:gd name="connsiteY6" fmla="*/ 3108803 h 5140114"/>
              <a:gd name="connsiteX7" fmla="*/ 3107437 w 6001412"/>
              <a:gd name="connsiteY7" fmla="*/ 0 h 514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1412" h="5140114">
                <a:moveTo>
                  <a:pt x="3107437" y="0"/>
                </a:moveTo>
                <a:cubicBezTo>
                  <a:pt x="3775063" y="0"/>
                  <a:pt x="4889204" y="0"/>
                  <a:pt x="6001412" y="0"/>
                </a:cubicBezTo>
                <a:lnTo>
                  <a:pt x="6001412" y="1209937"/>
                </a:lnTo>
                <a:lnTo>
                  <a:pt x="6001412" y="2458112"/>
                </a:lnTo>
                <a:lnTo>
                  <a:pt x="6001412" y="5140114"/>
                </a:lnTo>
                <a:lnTo>
                  <a:pt x="755013" y="5140114"/>
                </a:lnTo>
                <a:cubicBezTo>
                  <a:pt x="284547" y="4595284"/>
                  <a:pt x="0" y="3885290"/>
                  <a:pt x="0" y="3108803"/>
                </a:cubicBezTo>
                <a:cubicBezTo>
                  <a:pt x="0" y="1391855"/>
                  <a:pt x="1391244" y="0"/>
                  <a:pt x="3107437" y="0"/>
                </a:cubicBezTo>
                <a:close/>
              </a:path>
            </a:pathLst>
          </a:custGeom>
        </p:spPr>
        <p:txBody>
          <a:bodyPr wrap="square">
            <a:noAutofit/>
          </a:bodyPr>
          <a:lstStyle/>
          <a:p>
            <a:endParaRPr lang="en-US" dirty="0"/>
          </a:p>
        </p:txBody>
      </p:sp>
      <p:pic>
        <p:nvPicPr>
          <p:cNvPr id="9" name="Graphic 8">
            <a:extLst>
              <a:ext uri="{FF2B5EF4-FFF2-40B4-BE49-F238E27FC236}">
                <a16:creationId xmlns:a16="http://schemas.microsoft.com/office/drawing/2014/main" id="{F542DDCE-6797-AA13-0FA7-65588D86BA8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50604" y="809162"/>
            <a:ext cx="2870791" cy="629559"/>
          </a:xfrm>
          <a:prstGeom prst="rect">
            <a:avLst/>
          </a:prstGeom>
        </p:spPr>
      </p:pic>
      <p:pic>
        <p:nvPicPr>
          <p:cNvPr id="10" name="Picture 9">
            <a:extLst>
              <a:ext uri="{FF2B5EF4-FFF2-40B4-BE49-F238E27FC236}">
                <a16:creationId xmlns:a16="http://schemas.microsoft.com/office/drawing/2014/main" id="{EBE36A2D-7572-62E9-C3E7-532613D3A6A2}"/>
              </a:ext>
            </a:extLst>
          </p:cNvPr>
          <p:cNvPicPr>
            <a:picLocks noChangeAspect="1"/>
          </p:cNvPicPr>
          <p:nvPr userDrawn="1"/>
        </p:nvPicPr>
        <p:blipFill>
          <a:blip r:embed="rId3"/>
          <a:srcRect/>
          <a:stretch/>
        </p:blipFill>
        <p:spPr>
          <a:xfrm>
            <a:off x="9082474" y="631456"/>
            <a:ext cx="2256652" cy="749140"/>
          </a:xfrm>
          <a:prstGeom prst="rect">
            <a:avLst/>
          </a:prstGeom>
        </p:spPr>
      </p:pic>
      <p:pic>
        <p:nvPicPr>
          <p:cNvPr id="4" name="Picture 3">
            <a:extLst>
              <a:ext uri="{FF2B5EF4-FFF2-40B4-BE49-F238E27FC236}">
                <a16:creationId xmlns:a16="http://schemas.microsoft.com/office/drawing/2014/main" id="{9DD2AB23-5249-C271-55B2-F213206DCC8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1202638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nly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0" y="1839702"/>
            <a:ext cx="8265157"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Sed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a:t>
            </a:r>
            <a:r>
              <a:rPr lang="en-GB" err="1">
                <a:effectLst/>
              </a:rPr>
              <a:t>sit.Quisque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r>
              <a:rPr lang="en-GB" err="1">
                <a:effectLst/>
              </a:rPr>
              <a:t>Curabitur</a:t>
            </a:r>
            <a:r>
              <a:rPr lang="en-GB">
                <a:effectLst/>
              </a:rPr>
              <a:t> </a:t>
            </a:r>
            <a:r>
              <a:rPr lang="en-GB" err="1">
                <a:effectLst/>
              </a:rPr>
              <a:t>tincidunt</a:t>
            </a:r>
            <a:r>
              <a:rPr lang="en-GB">
                <a:effectLst/>
              </a:rPr>
              <a:t> </a:t>
            </a:r>
            <a:r>
              <a:rPr lang="en-GB" err="1">
                <a:effectLst/>
              </a:rPr>
              <a:t>odio</a:t>
            </a:r>
            <a:r>
              <a:rPr lang="en-GB">
                <a:effectLst/>
              </a:rPr>
              <a:t> id </a:t>
            </a:r>
            <a:r>
              <a:rPr lang="en-GB" err="1">
                <a:effectLst/>
              </a:rPr>
              <a:t>fringilla</a:t>
            </a:r>
            <a:r>
              <a:rPr lang="en-GB">
                <a:effectLst/>
              </a:rPr>
              <a:t> </a:t>
            </a:r>
            <a:r>
              <a:rPr lang="en-GB" err="1">
                <a:effectLst/>
              </a:rPr>
              <a:t>venenatis</a:t>
            </a:r>
            <a:r>
              <a:rPr lang="en-GB">
                <a:effectLst/>
              </a:rPr>
              <a: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Sed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velit</a:t>
            </a:r>
            <a:r>
              <a:rPr lang="en-GB">
                <a:effectLst/>
              </a:rPr>
              <a:t> </a:t>
            </a:r>
            <a:r>
              <a:rPr lang="en-GB" err="1">
                <a:effectLst/>
              </a:rPr>
              <a:t>justo</a:t>
            </a:r>
            <a:r>
              <a:rPr lang="en-GB">
                <a:effectLst/>
              </a:rPr>
              <a:t> </a:t>
            </a:r>
            <a:r>
              <a:rPr lang="en-GB" err="1">
                <a:effectLst/>
              </a:rPr>
              <a:t>ultrices</a:t>
            </a:r>
            <a:r>
              <a:rPr lang="en-GB">
                <a:effectLst/>
              </a:rPr>
              <a:t> </a:t>
            </a:r>
            <a:r>
              <a:rPr lang="en-GB" err="1">
                <a:effectLst/>
              </a:rPr>
              <a:t>velit</a:t>
            </a:r>
            <a:r>
              <a:rPr lang="en-GB">
                <a:effectLst/>
              </a:rPr>
              <a:t>, sit </a:t>
            </a:r>
            <a:r>
              <a:rPr lang="en-GB" err="1">
                <a:effectLst/>
              </a:rPr>
              <a:t>amet</a:t>
            </a:r>
            <a:r>
              <a:rPr lang="en-GB">
                <a:effectLst/>
              </a:rPr>
              <a:t> </a:t>
            </a:r>
            <a:r>
              <a:rPr lang="en-GB" err="1">
                <a:effectLst/>
              </a:rPr>
              <a:t>finibus</a:t>
            </a:r>
            <a:r>
              <a:rPr lang="en-GB">
                <a:effectLst/>
              </a:rPr>
              <a:t> </a:t>
            </a:r>
            <a:r>
              <a:rPr lang="en-GB" err="1">
                <a:effectLst/>
              </a:rPr>
              <a:t>tortor</a:t>
            </a:r>
            <a:r>
              <a:rPr lang="en-GB">
                <a:effectLst/>
              </a:rPr>
              <a:t> </a:t>
            </a:r>
            <a:r>
              <a:rPr lang="en-GB" err="1">
                <a:effectLst/>
              </a:rPr>
              <a:t>elit</a:t>
            </a:r>
            <a:r>
              <a:rPr lang="en-GB">
                <a:effectLst/>
              </a:rPr>
              <a:t> sit </a:t>
            </a:r>
            <a:r>
              <a:rPr lang="en-GB" err="1">
                <a:effectLst/>
              </a:rPr>
              <a:t>amet</a:t>
            </a:r>
            <a:r>
              <a:rPr lang="en-GB">
                <a:effectLst/>
              </a:rPr>
              <a:t> </a:t>
            </a:r>
            <a:r>
              <a:rPr lang="en-GB" err="1">
                <a:effectLst/>
              </a:rPr>
              <a:t>augue</a:t>
            </a:r>
            <a:r>
              <a:rPr lang="en-GB">
                <a:effectLst/>
              </a:rPr>
              <a:t>. </a:t>
            </a:r>
            <a:r>
              <a:rPr lang="en-GB" err="1">
                <a:effectLst/>
              </a:rPr>
              <a: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r>
              <a:rPr lang="en-GB" err="1">
                <a:effectLst/>
              </a:rPr>
              <a:t>Curabitur</a:t>
            </a:r>
            <a:r>
              <a:rPr lang="en-GB">
                <a:effectLst/>
              </a:rPr>
              <a:t> </a:t>
            </a:r>
            <a:r>
              <a:rPr lang="en-GB" err="1">
                <a:effectLst/>
              </a:rPr>
              <a:t>tincidunt</a:t>
            </a:r>
            <a:r>
              <a:rPr lang="en-GB">
                <a:effectLst/>
              </a:rPr>
              <a:t> </a:t>
            </a:r>
            <a:r>
              <a:rPr lang="en-GB" err="1">
                <a:effectLst/>
              </a:rPr>
              <a:t>odio</a:t>
            </a:r>
            <a:r>
              <a:rPr lang="en-GB">
                <a:effectLst/>
              </a:rPr>
              <a:t> id </a:t>
            </a:r>
            <a:r>
              <a:rPr lang="en-GB" err="1">
                <a:effectLst/>
              </a:rPr>
              <a:t>fringilla</a:t>
            </a:r>
            <a:r>
              <a:rPr lang="en-GB">
                <a:effectLst/>
              </a:rPr>
              <a:t> </a:t>
            </a:r>
            <a:r>
              <a:rPr lang="en-GB" err="1">
                <a:effectLst/>
              </a:rPr>
              <a:t>venenatis</a:t>
            </a:r>
            <a:r>
              <a:rPr lang="en-GB">
                <a:effectLst/>
              </a:rPr>
              <a:t>. </a:t>
            </a:r>
            <a:endParaRPr lang="en-GB"/>
          </a:p>
        </p:txBody>
      </p:sp>
      <p:sp>
        <p:nvSpPr>
          <p:cNvPr id="9" name="Slide Number Placeholder 14">
            <a:extLst>
              <a:ext uri="{FF2B5EF4-FFF2-40B4-BE49-F238E27FC236}">
                <a16:creationId xmlns:a16="http://schemas.microsoft.com/office/drawing/2014/main" id="{341BF005-F903-11D4-6C87-E29CE2F2DE7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spTree>
    <p:extLst>
      <p:ext uri="{BB962C8B-B14F-4D97-AF65-F5344CB8AC3E}">
        <p14:creationId xmlns:p14="http://schemas.microsoft.com/office/powerpoint/2010/main" val="2311990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ideo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4743-9034-6E89-5AB3-52E4D48B254F}"/>
              </a:ext>
            </a:extLst>
          </p:cNvPr>
          <p:cNvSpPr>
            <a:spLocks noGrp="1"/>
          </p:cNvSpPr>
          <p:nvPr>
            <p:ph type="title" hasCustomPrompt="1"/>
          </p:nvPr>
        </p:nvSpPr>
        <p:spPr/>
        <p:txBody>
          <a:bodyPr/>
          <a:lstStyle/>
          <a:p>
            <a:r>
              <a:rPr lang="en-GB"/>
              <a:t>Example title</a:t>
            </a:r>
            <a:endParaRPr lang="en-US"/>
          </a:p>
        </p:txBody>
      </p:sp>
      <p:sp>
        <p:nvSpPr>
          <p:cNvPr id="3" name="Slide Number Placeholder 2">
            <a:extLst>
              <a:ext uri="{FF2B5EF4-FFF2-40B4-BE49-F238E27FC236}">
                <a16:creationId xmlns:a16="http://schemas.microsoft.com/office/drawing/2014/main" id="{61E7FE5A-8255-D0E8-0F15-A0DD0B4C6F4B}"/>
              </a:ext>
            </a:extLst>
          </p:cNvPr>
          <p:cNvSpPr>
            <a:spLocks noGrp="1"/>
          </p:cNvSpPr>
          <p:nvPr>
            <p:ph type="sldNum" sz="quarter" idx="10"/>
          </p:nvPr>
        </p:nvSpPr>
        <p:spPr/>
        <p:txBody>
          <a:bodyPr/>
          <a:lstStyle/>
          <a:p>
            <a:fld id="{10390E37-E81B-D94E-8F4C-F7866DC26FF5}" type="slidenum">
              <a:rPr lang="en-US" smtClean="0"/>
              <a:pPr/>
              <a:t>‹#›</a:t>
            </a:fld>
            <a:endParaRPr lang="en-US" dirty="0"/>
          </a:p>
        </p:txBody>
      </p:sp>
      <p:sp>
        <p:nvSpPr>
          <p:cNvPr id="5" name="Media Placeholder 4">
            <a:extLst>
              <a:ext uri="{FF2B5EF4-FFF2-40B4-BE49-F238E27FC236}">
                <a16:creationId xmlns:a16="http://schemas.microsoft.com/office/drawing/2014/main" id="{B2FF4A5C-B4CA-D35E-E279-FDC5FBC52F39}"/>
              </a:ext>
            </a:extLst>
          </p:cNvPr>
          <p:cNvSpPr>
            <a:spLocks noGrp="1"/>
          </p:cNvSpPr>
          <p:nvPr>
            <p:ph type="media" sz="quarter" idx="11"/>
          </p:nvPr>
        </p:nvSpPr>
        <p:spPr>
          <a:xfrm>
            <a:off x="842963" y="1819275"/>
            <a:ext cx="10510837" cy="4205288"/>
          </a:xfrm>
        </p:spPr>
        <p:txBody>
          <a:bodyPr/>
          <a:lstStyle/>
          <a:p>
            <a:endParaRPr lang="en-US" dirty="0"/>
          </a:p>
        </p:txBody>
      </p:sp>
    </p:spTree>
    <p:extLst>
      <p:ext uri="{BB962C8B-B14F-4D97-AF65-F5344CB8AC3E}">
        <p14:creationId xmlns:p14="http://schemas.microsoft.com/office/powerpoint/2010/main" val="1167371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9CD0E-17BE-EC43-88D0-301055E7A670}"/>
              </a:ext>
            </a:extLst>
          </p:cNvPr>
          <p:cNvSpPr>
            <a:spLocks noGrp="1"/>
          </p:cNvSpPr>
          <p:nvPr>
            <p:ph type="title"/>
          </p:nvPr>
        </p:nvSpPr>
        <p:spPr/>
        <p:txBody>
          <a:body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550B7F89-8467-FDC7-A1C2-87492591A9CD}"/>
              </a:ext>
            </a:extLst>
          </p:cNvPr>
          <p:cNvSpPr>
            <a:spLocks noGrp="1"/>
          </p:cNvSpPr>
          <p:nvPr>
            <p:ph type="sldNum" sz="quarter" idx="10"/>
          </p:nvPr>
        </p:nvSpPr>
        <p:spPr/>
        <p:txBody>
          <a:bodyPr/>
          <a:lstStyle/>
          <a:p>
            <a:fld id="{10390E37-E81B-D94E-8F4C-F7866DC26FF5}" type="slidenum">
              <a:rPr lang="en-US" smtClean="0"/>
              <a:pPr/>
              <a:t>‹#›</a:t>
            </a:fld>
            <a:endParaRPr lang="en-US" dirty="0"/>
          </a:p>
        </p:txBody>
      </p:sp>
      <p:sp>
        <p:nvSpPr>
          <p:cNvPr id="6" name="Chart Placeholder 5">
            <a:extLst>
              <a:ext uri="{FF2B5EF4-FFF2-40B4-BE49-F238E27FC236}">
                <a16:creationId xmlns:a16="http://schemas.microsoft.com/office/drawing/2014/main" id="{5DBC84B0-ED96-F445-2398-BFFA4AE02B4F}"/>
              </a:ext>
            </a:extLst>
          </p:cNvPr>
          <p:cNvSpPr>
            <a:spLocks noGrp="1"/>
          </p:cNvSpPr>
          <p:nvPr>
            <p:ph type="chart" sz="quarter" idx="12"/>
          </p:nvPr>
        </p:nvSpPr>
        <p:spPr>
          <a:xfrm>
            <a:off x="838200" y="1768475"/>
            <a:ext cx="10515600" cy="4094163"/>
          </a:xfrm>
        </p:spPr>
        <p:txBody>
          <a:bodyPr/>
          <a:lstStyle/>
          <a:p>
            <a:endParaRPr lang="en-US" dirty="0"/>
          </a:p>
        </p:txBody>
      </p:sp>
    </p:spTree>
    <p:extLst>
      <p:ext uri="{BB962C8B-B14F-4D97-AF65-F5344CB8AC3E}">
        <p14:creationId xmlns:p14="http://schemas.microsoft.com/office/powerpoint/2010/main" val="1967433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9" name="Slide Number Placeholder 14">
            <a:extLst>
              <a:ext uri="{FF2B5EF4-FFF2-40B4-BE49-F238E27FC236}">
                <a16:creationId xmlns:a16="http://schemas.microsoft.com/office/drawing/2014/main" id="{341BF005-F903-11D4-6C87-E29CE2F2DE7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sp>
        <p:nvSpPr>
          <p:cNvPr id="5" name="Table Placeholder 4">
            <a:extLst>
              <a:ext uri="{FF2B5EF4-FFF2-40B4-BE49-F238E27FC236}">
                <a16:creationId xmlns:a16="http://schemas.microsoft.com/office/drawing/2014/main" id="{DE8E9E6F-E97F-1CCC-3F04-8C4DC2C97808}"/>
              </a:ext>
            </a:extLst>
          </p:cNvPr>
          <p:cNvSpPr>
            <a:spLocks noGrp="1"/>
          </p:cNvSpPr>
          <p:nvPr>
            <p:ph type="tbl" sz="quarter" idx="10"/>
          </p:nvPr>
        </p:nvSpPr>
        <p:spPr>
          <a:xfrm>
            <a:off x="763588" y="1974850"/>
            <a:ext cx="10515600" cy="3930650"/>
          </a:xfrm>
        </p:spPr>
        <p:txBody>
          <a:bodyPr/>
          <a:lstStyle/>
          <a:p>
            <a:endParaRPr lang="en-US" dirty="0"/>
          </a:p>
        </p:txBody>
      </p:sp>
    </p:spTree>
    <p:extLst>
      <p:ext uri="{BB962C8B-B14F-4D97-AF65-F5344CB8AC3E}">
        <p14:creationId xmlns:p14="http://schemas.microsoft.com/office/powerpoint/2010/main" val="1530962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0" y="1839702"/>
            <a:ext cx="6043503"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sit.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a:t>
            </a:r>
            <a:endParaRPr lang="en-GB"/>
          </a:p>
        </p:txBody>
      </p:sp>
      <p:sp>
        <p:nvSpPr>
          <p:cNvPr id="10" name="Picture Placeholder 9">
            <a:extLst>
              <a:ext uri="{FF2B5EF4-FFF2-40B4-BE49-F238E27FC236}">
                <a16:creationId xmlns:a16="http://schemas.microsoft.com/office/drawing/2014/main" id="{7467C051-90C9-9760-EE5C-F113B036F2C9}"/>
              </a:ext>
            </a:extLst>
          </p:cNvPr>
          <p:cNvSpPr>
            <a:spLocks noGrp="1"/>
          </p:cNvSpPr>
          <p:nvPr>
            <p:ph type="pic" sz="quarter" idx="11"/>
          </p:nvPr>
        </p:nvSpPr>
        <p:spPr>
          <a:xfrm>
            <a:off x="6749622" y="1113167"/>
            <a:ext cx="5442377" cy="5671202"/>
          </a:xfrm>
          <a:custGeom>
            <a:avLst/>
            <a:gdLst>
              <a:gd name="connsiteX0" fmla="*/ 5442377 w 5442377"/>
              <a:gd name="connsiteY0" fmla="*/ 0 h 5671202"/>
              <a:gd name="connsiteX1" fmla="*/ 5442377 w 5442377"/>
              <a:gd name="connsiteY1" fmla="*/ 171263 h 5671202"/>
              <a:gd name="connsiteX2" fmla="*/ 5442377 w 5442377"/>
              <a:gd name="connsiteY2" fmla="*/ 826186 h 5671202"/>
              <a:gd name="connsiteX3" fmla="*/ 5442377 w 5442377"/>
              <a:gd name="connsiteY3" fmla="*/ 5378671 h 5671202"/>
              <a:gd name="connsiteX4" fmla="*/ 5442377 w 5442377"/>
              <a:gd name="connsiteY4" fmla="*/ 5671202 h 5671202"/>
              <a:gd name="connsiteX5" fmla="*/ 0 w 5442377"/>
              <a:gd name="connsiteY5" fmla="*/ 5671202 h 5671202"/>
              <a:gd name="connsiteX6" fmla="*/ 5442377 w 5442377"/>
              <a:gd name="connsiteY6" fmla="*/ 0 h 5671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42377" h="5671202">
                <a:moveTo>
                  <a:pt x="5442377" y="0"/>
                </a:moveTo>
                <a:lnTo>
                  <a:pt x="5442377" y="171263"/>
                </a:lnTo>
                <a:lnTo>
                  <a:pt x="5442377" y="826186"/>
                </a:lnTo>
                <a:lnTo>
                  <a:pt x="5442377" y="5378671"/>
                </a:lnTo>
                <a:lnTo>
                  <a:pt x="5442377" y="5671202"/>
                </a:lnTo>
                <a:lnTo>
                  <a:pt x="0" y="5671202"/>
                </a:lnTo>
                <a:cubicBezTo>
                  <a:pt x="0" y="2508950"/>
                  <a:pt x="2639608" y="96819"/>
                  <a:pt x="5442377" y="0"/>
                </a:cubicBezTo>
                <a:close/>
              </a:path>
            </a:pathLst>
          </a:custGeom>
        </p:spPr>
        <p:txBody>
          <a:bodyPr wrap="square">
            <a:noAutofit/>
          </a:bodyPr>
          <a:lstStyle/>
          <a:p>
            <a:endParaRPr lang="en-US" dirty="0"/>
          </a:p>
        </p:txBody>
      </p:sp>
    </p:spTree>
    <p:extLst>
      <p:ext uri="{BB962C8B-B14F-4D97-AF65-F5344CB8AC3E}">
        <p14:creationId xmlns:p14="http://schemas.microsoft.com/office/powerpoint/2010/main" val="19537093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and Image (Resiz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70471" y="1839702"/>
            <a:ext cx="5533440" cy="4279900"/>
          </a:xfrm>
        </p:spPr>
        <p:txBody>
          <a:bodyPr>
            <a:noAutofit/>
          </a:bodyPr>
          <a:lstStyle>
            <a:lvl1pPr marL="0" indent="0">
              <a:lnSpc>
                <a:spcPts val="2700"/>
              </a:lnSpc>
              <a:buNone/>
              <a:defRPr sz="180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 </a:t>
            </a:r>
            <a:r>
              <a:rPr lang="en-GB" err="1">
                <a:effectLst/>
              </a:rPr>
              <a:t>arcu</a:t>
            </a:r>
            <a:r>
              <a:rPr lang="en-GB">
                <a:effectLst/>
              </a:rPr>
              <a:t> nisi </a:t>
            </a:r>
            <a:r>
              <a:rPr lang="en-GB" err="1">
                <a:effectLst/>
              </a:rPr>
              <a:t>suscipit</a:t>
            </a:r>
            <a:r>
              <a:rPr lang="en-GB">
                <a:effectLst/>
              </a:rPr>
              <a:t> </a:t>
            </a:r>
            <a:r>
              <a:rPr lang="en-GB" err="1">
                <a:effectLst/>
              </a:rPr>
              <a:t>justo</a:t>
            </a:r>
            <a:r>
              <a:rPr lang="en-GB">
                <a:effectLst/>
              </a:rPr>
              <a:t>, ac </a:t>
            </a:r>
            <a:r>
              <a:rPr lang="en-GB" err="1">
                <a:effectLst/>
              </a:rPr>
              <a:t>tincidunt</a:t>
            </a:r>
            <a:r>
              <a:rPr lang="en-GB">
                <a:effectLst/>
              </a:rPr>
              <a:t> </a:t>
            </a:r>
            <a:r>
              <a:rPr lang="en-GB" err="1">
                <a:effectLst/>
              </a:rPr>
              <a:t>dolor</a:t>
            </a:r>
            <a:r>
              <a:rPr lang="en-GB">
                <a:effectLst/>
              </a:rPr>
              <a:t> dui a </a:t>
            </a:r>
            <a:r>
              <a:rPr lang="en-GB" err="1">
                <a:effectLst/>
              </a:rPr>
              <a:t>purus</a:t>
            </a:r>
            <a:r>
              <a:rPr lang="en-GB">
                <a:effectLst/>
              </a:rPr>
              <a:t>. Maecenas auctor </a:t>
            </a:r>
            <a:r>
              <a:rPr lang="en-GB" err="1">
                <a:effectLst/>
              </a:rPr>
              <a:t>tincidunt</a:t>
            </a:r>
            <a:r>
              <a:rPr lang="en-GB">
                <a:effectLst/>
              </a:rPr>
              <a:t> </a:t>
            </a:r>
            <a:r>
              <a:rPr lang="en-GB" err="1">
                <a:effectLst/>
              </a:rPr>
              <a:t>quam</a:t>
            </a:r>
            <a:r>
              <a:rPr lang="en-GB">
                <a:effectLst/>
              </a:rPr>
              <a:t>, ac </a:t>
            </a:r>
            <a:r>
              <a:rPr lang="en-GB" err="1">
                <a:effectLst/>
              </a:rPr>
              <a:t>facilisis</a:t>
            </a:r>
            <a:r>
              <a:rPr lang="en-GB">
                <a:effectLst/>
              </a:rPr>
              <a:t> </a:t>
            </a:r>
            <a:r>
              <a:rPr lang="en-GB" err="1">
                <a:effectLst/>
              </a:rPr>
              <a:t>purus</a:t>
            </a:r>
            <a:r>
              <a:rPr lang="en-GB">
                <a:effectLst/>
              </a:rPr>
              <a:t> </a:t>
            </a:r>
            <a:r>
              <a:rPr lang="en-GB" err="1">
                <a:effectLst/>
              </a:rPr>
              <a:t>efficitur</a:t>
            </a:r>
            <a:r>
              <a:rPr lang="en-GB">
                <a:effectLst/>
              </a:rPr>
              <a:t> </a:t>
            </a:r>
            <a:r>
              <a:rPr lang="en-GB" err="1">
                <a:effectLst/>
              </a:rPr>
              <a:t>ut.</a:t>
            </a:r>
            <a:r>
              <a:rPr lang="en-GB">
                <a:effectLst/>
              </a:rPr>
              <a:t> Integer ac </a:t>
            </a:r>
            <a:r>
              <a:rPr lang="en-GB" err="1">
                <a:effectLst/>
              </a:rPr>
              <a:t>tortor</a:t>
            </a:r>
            <a:r>
              <a:rPr lang="en-GB">
                <a:effectLst/>
              </a:rPr>
              <a:t> </a:t>
            </a:r>
            <a:r>
              <a:rPr lang="en-GB" err="1">
                <a:effectLst/>
              </a:rPr>
              <a:t>eu</a:t>
            </a:r>
            <a:r>
              <a:rPr lang="en-GB">
                <a:effectLst/>
              </a:rPr>
              <a:t> </a:t>
            </a:r>
            <a:r>
              <a:rPr lang="en-GB" err="1">
                <a:effectLst/>
              </a:rPr>
              <a:t>velit</a:t>
            </a:r>
            <a:r>
              <a:rPr lang="en-GB">
                <a:effectLst/>
              </a:rPr>
              <a:t> </a:t>
            </a:r>
            <a:r>
              <a:rPr lang="en-GB" err="1">
                <a:effectLst/>
              </a:rPr>
              <a:t>interdum</a:t>
            </a:r>
            <a:r>
              <a:rPr lang="en-GB">
                <a:effectLst/>
              </a:rPr>
              <a:t> lacinia et sit.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fermentum.</a:t>
            </a:r>
            <a:endParaRPr lang="en-GB"/>
          </a:p>
        </p:txBody>
      </p:sp>
      <p:sp>
        <p:nvSpPr>
          <p:cNvPr id="5" name="Picture Placeholder 4">
            <a:extLst>
              <a:ext uri="{FF2B5EF4-FFF2-40B4-BE49-F238E27FC236}">
                <a16:creationId xmlns:a16="http://schemas.microsoft.com/office/drawing/2014/main" id="{5264CEED-5AE5-5967-EA26-D37F006632C3}"/>
              </a:ext>
            </a:extLst>
          </p:cNvPr>
          <p:cNvSpPr>
            <a:spLocks noGrp="1"/>
          </p:cNvSpPr>
          <p:nvPr>
            <p:ph type="pic" sz="quarter" idx="11"/>
          </p:nvPr>
        </p:nvSpPr>
        <p:spPr>
          <a:xfrm>
            <a:off x="6649082" y="1792465"/>
            <a:ext cx="5007932" cy="4384497"/>
          </a:xfrm>
          <a:prstGeom prst="roundRect">
            <a:avLst>
              <a:gd name="adj" fmla="val 5851"/>
            </a:avLst>
          </a:prstGeom>
        </p:spPr>
        <p:txBody>
          <a:bodyPr/>
          <a:lstStyle/>
          <a:p>
            <a:endParaRPr lang="en-US" dirty="0"/>
          </a:p>
        </p:txBody>
      </p:sp>
    </p:spTree>
    <p:extLst>
      <p:ext uri="{BB962C8B-B14F-4D97-AF65-F5344CB8AC3E}">
        <p14:creationId xmlns:p14="http://schemas.microsoft.com/office/powerpoint/2010/main" val="31724427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BB6A3-1C35-01F1-0B0C-D49BFAAE1480}"/>
              </a:ext>
            </a:extLst>
          </p:cNvPr>
          <p:cNvSpPr>
            <a:spLocks noGrp="1"/>
          </p:cNvSpPr>
          <p:nvPr>
            <p:ph type="title" hasCustomPrompt="1"/>
          </p:nvPr>
        </p:nvSpPr>
        <p:spPr>
          <a:xfrm>
            <a:off x="763695" y="534458"/>
            <a:ext cx="10515600" cy="1325563"/>
          </a:xfrm>
        </p:spPr>
        <p:txBody>
          <a:bodyPr/>
          <a:lstStyle/>
          <a:p>
            <a:r>
              <a:rPr lang="en-GB"/>
              <a:t>Example title</a:t>
            </a:r>
            <a:endParaRPr lang="en-US"/>
          </a:p>
        </p:txBody>
      </p:sp>
      <p:sp>
        <p:nvSpPr>
          <p:cNvPr id="4" name="Text Placeholder 3">
            <a:extLst>
              <a:ext uri="{FF2B5EF4-FFF2-40B4-BE49-F238E27FC236}">
                <a16:creationId xmlns:a16="http://schemas.microsoft.com/office/drawing/2014/main" id="{B2FFEDA0-53F9-4B0B-3B52-79E81241B840}"/>
              </a:ext>
            </a:extLst>
          </p:cNvPr>
          <p:cNvSpPr>
            <a:spLocks noGrp="1"/>
          </p:cNvSpPr>
          <p:nvPr>
            <p:ph type="body" sz="quarter" idx="10" hasCustomPrompt="1"/>
          </p:nvPr>
        </p:nvSpPr>
        <p:spPr>
          <a:xfrm>
            <a:off x="763695" y="1826156"/>
            <a:ext cx="8089052" cy="4279900"/>
          </a:xfrm>
        </p:spPr>
        <p:txBody>
          <a:bodyPr>
            <a:noAutofit/>
          </a:bodyPr>
          <a:lstStyle>
            <a:lvl1pPr marL="342900" indent="-342900">
              <a:lnSpc>
                <a:spcPts val="2700"/>
              </a:lnSpc>
              <a:spcAft>
                <a:spcPts val="1400"/>
              </a:spcAft>
              <a:buFont typeface="Arial" panose="020B0604020202020204" pitchFamily="34" charset="0"/>
              <a:buChar char="•"/>
              <a:defRPr sz="1800" spc="0" baseline="0"/>
            </a:lvl1pPr>
          </a:lstStyle>
          <a:p>
            <a:pPr lvl="0"/>
            <a:r>
              <a:rPr lang="en-GB">
                <a:effectLst/>
              </a:rPr>
              <a:t>Lorem ipsum </a:t>
            </a:r>
            <a:r>
              <a:rPr lang="en-GB" err="1">
                <a:effectLst/>
              </a:rPr>
              <a:t>dolor</a:t>
            </a:r>
            <a:r>
              <a:rPr lang="en-GB">
                <a:effectLst/>
              </a:rPr>
              <a:t> sit </a:t>
            </a:r>
            <a:r>
              <a:rPr lang="en-GB" err="1">
                <a:effectLst/>
              </a:rPr>
              <a:t>amet</a:t>
            </a:r>
            <a:r>
              <a:rPr lang="en-GB">
                <a:effectLst/>
              </a:rPr>
              <a:t>, </a:t>
            </a:r>
            <a:r>
              <a:rPr lang="en-GB" err="1">
                <a:effectLst/>
              </a:rPr>
              <a:t>consectetur</a:t>
            </a:r>
            <a:r>
              <a:rPr lang="en-GB">
                <a:effectLst/>
              </a:rPr>
              <a:t> </a:t>
            </a:r>
            <a:r>
              <a:rPr lang="en-GB" err="1">
                <a:effectLst/>
              </a:rPr>
              <a:t>adipiscing</a:t>
            </a:r>
            <a:r>
              <a:rPr lang="en-GB">
                <a:effectLst/>
              </a:rPr>
              <a:t> </a:t>
            </a:r>
            <a:r>
              <a:rPr lang="en-GB" err="1">
                <a:effectLst/>
              </a:rPr>
              <a:t>elit</a:t>
            </a:r>
            <a:r>
              <a:rPr lang="en-GB">
                <a:effectLst/>
              </a:rPr>
              <a:t>. </a:t>
            </a:r>
            <a:r>
              <a:rPr lang="en-GB" err="1">
                <a:effectLst/>
              </a:rPr>
              <a:t>Sed</a:t>
            </a:r>
            <a:r>
              <a:rPr lang="en-GB">
                <a:effectLst/>
              </a:rPr>
              <a:t> </a:t>
            </a:r>
            <a:r>
              <a:rPr lang="en-GB" err="1">
                <a:effectLst/>
              </a:rPr>
              <a:t>hendrerit</a:t>
            </a:r>
            <a:r>
              <a:rPr lang="en-GB">
                <a:effectLst/>
              </a:rPr>
              <a:t> semper </a:t>
            </a:r>
            <a:r>
              <a:rPr lang="en-GB" err="1">
                <a:effectLst/>
              </a:rPr>
              <a:t>leo</a:t>
            </a:r>
            <a:r>
              <a:rPr lang="en-GB">
                <a:effectLst/>
              </a:rPr>
              <a:t>, </a:t>
            </a:r>
            <a:r>
              <a:rPr lang="en-GB" err="1">
                <a:effectLst/>
              </a:rPr>
              <a:t>nec</a:t>
            </a:r>
            <a:r>
              <a:rPr lang="en-GB">
                <a:effectLst/>
              </a:rPr>
              <a:t> </a:t>
            </a:r>
            <a:r>
              <a:rPr lang="en-GB" err="1">
                <a:effectLst/>
              </a:rPr>
              <a:t>accumsan</a:t>
            </a:r>
            <a:r>
              <a:rPr lang="en-GB">
                <a:effectLst/>
              </a:rPr>
              <a:t> nisi </a:t>
            </a:r>
            <a:r>
              <a:rPr lang="en-GB" err="1">
                <a:effectLst/>
              </a:rPr>
              <a:t>finibus</a:t>
            </a:r>
            <a:r>
              <a:rPr lang="en-GB">
                <a:effectLst/>
              </a:rPr>
              <a:t> vel. Ut </a:t>
            </a:r>
            <a:r>
              <a:rPr lang="en-GB" err="1">
                <a:effectLst/>
              </a:rPr>
              <a:t>sodales</a:t>
            </a:r>
            <a:r>
              <a:rPr lang="en-GB">
                <a:effectLst/>
              </a:rPr>
              <a:t>, dui </a:t>
            </a:r>
            <a:r>
              <a:rPr lang="en-GB" err="1">
                <a:effectLst/>
              </a:rPr>
              <a:t>vel</a:t>
            </a:r>
            <a:r>
              <a:rPr lang="en-GB">
                <a:effectLst/>
              </a:rPr>
              <a:t> </a:t>
            </a:r>
            <a:r>
              <a:rPr lang="en-GB" err="1">
                <a:effectLst/>
              </a:rPr>
              <a:t>vulputate</a:t>
            </a:r>
            <a:r>
              <a:rPr lang="en-GB">
                <a:effectLst/>
              </a:rPr>
              <a:t> </a:t>
            </a:r>
            <a:r>
              <a:rPr lang="en-GB" err="1">
                <a:effectLst/>
              </a:rPr>
              <a:t>vehicula</a:t>
            </a:r>
            <a:r>
              <a:rPr lang="en-GB">
                <a:effectLst/>
              </a:rPr>
              <a:t>.</a:t>
            </a:r>
          </a:p>
          <a:p>
            <a:pPr lvl="0"/>
            <a:r>
              <a:rPr lang="en-GB" err="1">
                <a:effectLst/>
              </a:rPr>
              <a:t>Vivamus</a:t>
            </a:r>
            <a:r>
              <a:rPr lang="en-GB">
                <a:effectLst/>
              </a:rPr>
              <a:t> </a:t>
            </a:r>
            <a:r>
              <a:rPr lang="en-GB" err="1">
                <a:effectLst/>
              </a:rPr>
              <a:t>nec</a:t>
            </a:r>
            <a:r>
              <a:rPr lang="en-GB">
                <a:effectLst/>
              </a:rPr>
              <a:t> </a:t>
            </a:r>
            <a:r>
              <a:rPr lang="en-GB" err="1">
                <a:effectLst/>
              </a:rPr>
              <a:t>lectus</a:t>
            </a:r>
            <a:r>
              <a:rPr lang="en-GB">
                <a:effectLst/>
              </a:rPr>
              <a:t> id </a:t>
            </a:r>
            <a:r>
              <a:rPr lang="en-GB" err="1">
                <a:effectLst/>
              </a:rPr>
              <a:t>justo</a:t>
            </a:r>
            <a:r>
              <a:rPr lang="en-GB">
                <a:effectLst/>
              </a:rPr>
              <a:t> </a:t>
            </a:r>
            <a:r>
              <a:rPr lang="en-GB" err="1">
                <a:effectLst/>
              </a:rPr>
              <a:t>consequat</a:t>
            </a:r>
            <a:r>
              <a:rPr lang="en-GB">
                <a:effectLst/>
              </a:rPr>
              <a:t> </a:t>
            </a:r>
            <a:r>
              <a:rPr lang="en-GB" err="1">
                <a:effectLst/>
              </a:rPr>
              <a:t>ultricies</a:t>
            </a:r>
            <a:r>
              <a:rPr lang="en-GB">
                <a:effectLst/>
              </a:rPr>
              <a:t>. In hac </a:t>
            </a:r>
            <a:r>
              <a:rPr lang="en-GB" err="1">
                <a:effectLst/>
              </a:rPr>
              <a:t>habitasse</a:t>
            </a:r>
            <a:r>
              <a:rPr lang="en-GB">
                <a:effectLst/>
              </a:rPr>
              <a:t> </a:t>
            </a:r>
            <a:r>
              <a:rPr lang="en-GB" err="1">
                <a:effectLst/>
              </a:rPr>
              <a:t>platea</a:t>
            </a:r>
            <a:r>
              <a:rPr lang="en-GB">
                <a:effectLst/>
              </a:rPr>
              <a:t> </a:t>
            </a:r>
            <a:r>
              <a:rPr lang="en-GB" err="1">
                <a:effectLst/>
              </a:rPr>
              <a:t>dictumst</a:t>
            </a:r>
            <a:r>
              <a:rPr lang="en-GB">
                <a:effectLst/>
              </a:rPr>
              <a:t>. </a:t>
            </a:r>
            <a:r>
              <a:rPr lang="en-GB" err="1">
                <a:effectLst/>
              </a:rPr>
              <a:t>Fusce</a:t>
            </a:r>
            <a:r>
              <a:rPr lang="en-GB">
                <a:effectLst/>
              </a:rPr>
              <a:t> vestibulum libero at nisi </a:t>
            </a:r>
            <a:r>
              <a:rPr lang="en-GB" err="1">
                <a:effectLst/>
              </a:rPr>
              <a:t>ullamcorper</a:t>
            </a:r>
            <a:r>
              <a:rPr lang="en-GB">
                <a:effectLst/>
              </a:rPr>
              <a:t>, a </a:t>
            </a:r>
            <a:r>
              <a:rPr lang="en-GB" err="1">
                <a:effectLst/>
              </a:rPr>
              <a:t>dapibus</a:t>
            </a:r>
            <a:r>
              <a:rPr lang="en-GB">
                <a:effectLst/>
              </a:rPr>
              <a:t> </a:t>
            </a:r>
            <a:r>
              <a:rPr lang="en-GB" err="1">
                <a:effectLst/>
              </a:rPr>
              <a:t>lectus</a:t>
            </a:r>
            <a:r>
              <a:rPr lang="en-GB">
                <a:effectLst/>
              </a:rPr>
              <a:t> gravida. </a:t>
            </a:r>
            <a:r>
              <a:rPr lang="en-GB" err="1">
                <a:effectLst/>
              </a:rPr>
              <a:t>Sed</a:t>
            </a:r>
            <a:r>
              <a:rPr lang="en-GB">
                <a:effectLst/>
              </a:rPr>
              <a:t> </a:t>
            </a:r>
            <a:r>
              <a:rPr lang="en-GB" err="1">
                <a:effectLst/>
              </a:rPr>
              <a:t>sodales</a:t>
            </a:r>
            <a:r>
              <a:rPr lang="en-GB">
                <a:effectLst/>
              </a:rPr>
              <a:t>, </a:t>
            </a:r>
            <a:r>
              <a:rPr lang="en-GB" err="1">
                <a:effectLst/>
              </a:rPr>
              <a:t>purus</a:t>
            </a:r>
            <a:r>
              <a:rPr lang="en-GB">
                <a:effectLst/>
              </a:rPr>
              <a:t> </a:t>
            </a:r>
            <a:r>
              <a:rPr lang="en-GB" err="1">
                <a:effectLst/>
              </a:rPr>
              <a:t>nec</a:t>
            </a:r>
            <a:r>
              <a:rPr lang="en-GB">
                <a:effectLst/>
              </a:rPr>
              <a:t> </a:t>
            </a:r>
            <a:r>
              <a:rPr lang="en-GB" err="1">
                <a:effectLst/>
              </a:rPr>
              <a:t>aliquet</a:t>
            </a:r>
            <a:r>
              <a:rPr lang="en-GB">
                <a:effectLst/>
              </a:rPr>
              <a:t> fermentum.</a:t>
            </a:r>
          </a:p>
          <a:p>
            <a:pPr lvl="0"/>
            <a:r>
              <a:rPr lang="en-GB" err="1">
                <a:effectLst/>
              </a:rPr>
              <a:t>Velit</a:t>
            </a:r>
            <a:r>
              <a:rPr lang="en-GB">
                <a:effectLst/>
              </a:rPr>
              <a:t> </a:t>
            </a:r>
            <a:r>
              <a:rPr lang="en-GB" err="1">
                <a:effectLst/>
              </a:rPr>
              <a:t>justo</a:t>
            </a:r>
            <a:r>
              <a:rPr lang="en-GB">
                <a:effectLst/>
              </a:rPr>
              <a:t> </a:t>
            </a:r>
            <a:r>
              <a:rPr lang="en-GB" err="1">
                <a:effectLst/>
              </a:rPr>
              <a:t>ultrices</a:t>
            </a:r>
            <a:r>
              <a:rPr lang="en-GB">
                <a:effectLst/>
              </a:rPr>
              <a:t> </a:t>
            </a:r>
            <a:r>
              <a:rPr lang="en-GB" err="1">
                <a:effectLst/>
              </a:rPr>
              <a:t>velit</a:t>
            </a:r>
            <a:r>
              <a:rPr lang="en-GB">
                <a:effectLst/>
              </a:rPr>
              <a:t>, sit </a:t>
            </a:r>
            <a:r>
              <a:rPr lang="en-GB" err="1">
                <a:effectLst/>
              </a:rPr>
              <a:t>amet</a:t>
            </a:r>
            <a:r>
              <a:rPr lang="en-GB">
                <a:effectLst/>
              </a:rPr>
              <a:t> </a:t>
            </a:r>
            <a:r>
              <a:rPr lang="en-GB" err="1">
                <a:effectLst/>
              </a:rPr>
              <a:t>finibus</a:t>
            </a:r>
            <a:r>
              <a:rPr lang="en-GB">
                <a:effectLst/>
              </a:rPr>
              <a:t> </a:t>
            </a:r>
            <a:r>
              <a:rPr lang="en-GB" err="1">
                <a:effectLst/>
              </a:rPr>
              <a:t>tortor</a:t>
            </a:r>
            <a:r>
              <a:rPr lang="en-GB">
                <a:effectLst/>
              </a:rPr>
              <a:t> </a:t>
            </a:r>
            <a:r>
              <a:rPr lang="en-GB" err="1">
                <a:effectLst/>
              </a:rPr>
              <a:t>elit</a:t>
            </a:r>
            <a:r>
              <a:rPr lang="en-GB">
                <a:effectLst/>
              </a:rPr>
              <a:t> sit </a:t>
            </a:r>
            <a:r>
              <a:rPr lang="en-GB" err="1">
                <a:effectLst/>
              </a:rPr>
              <a:t>amet</a:t>
            </a:r>
            <a:r>
              <a:rPr lang="en-GB">
                <a:effectLst/>
              </a:rPr>
              <a:t> </a:t>
            </a:r>
            <a:r>
              <a:rPr lang="en-GB" err="1">
                <a:effectLst/>
              </a:rPr>
              <a:t>augue</a:t>
            </a:r>
            <a:r>
              <a:rPr lang="en-GB">
                <a:effectLst/>
              </a:rPr>
              <a:t>. </a:t>
            </a:r>
            <a:r>
              <a:rPr lang="en-GB" err="1">
                <a:effectLst/>
              </a:rPr>
              <a: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r>
              <a:rPr lang="en-GB" err="1">
                <a:effectLst/>
              </a:rPr>
              <a:t>Curabitur</a:t>
            </a:r>
            <a:r>
              <a:rPr lang="en-GB">
                <a:effectLst/>
              </a:rPr>
              <a:t> </a:t>
            </a:r>
            <a:r>
              <a:rPr lang="en-GB" err="1">
                <a:effectLst/>
              </a:rPr>
              <a:t>tincid</a:t>
            </a:r>
            <a:r>
              <a:rPr lang="en-GB">
                <a:effectLst/>
              </a:rPr>
              <a:t>. </a:t>
            </a:r>
          </a:p>
          <a:p>
            <a:pPr lvl="0"/>
            <a:r>
              <a:rPr lang="en-GB" err="1">
                <a:effectLst/>
              </a:rPr>
              <a:t>Velit</a:t>
            </a:r>
            <a:r>
              <a:rPr lang="en-GB">
                <a:effectLst/>
              </a:rPr>
              <a:t> </a:t>
            </a:r>
            <a:r>
              <a:rPr lang="en-GB" err="1">
                <a:effectLst/>
              </a:rPr>
              <a:t>justo</a:t>
            </a:r>
            <a:r>
              <a:rPr lang="en-GB">
                <a:effectLst/>
              </a:rPr>
              <a:t> </a:t>
            </a:r>
            <a:r>
              <a:rPr lang="en-GB" err="1">
                <a:effectLst/>
              </a:rPr>
              <a:t>ultrices</a:t>
            </a:r>
            <a:r>
              <a:rPr lang="en-GB">
                <a:effectLst/>
              </a:rPr>
              <a:t> </a:t>
            </a:r>
            <a:r>
              <a:rPr lang="en-GB" err="1">
                <a:effectLst/>
              </a:rPr>
              <a:t>velit</a:t>
            </a:r>
            <a:r>
              <a:rPr lang="en-GB">
                <a:effectLst/>
              </a:rPr>
              <a:t>, sit </a:t>
            </a:r>
            <a:r>
              <a:rPr lang="en-GB" err="1">
                <a:effectLst/>
              </a:rPr>
              <a:t>amet</a:t>
            </a:r>
            <a:r>
              <a:rPr lang="en-GB">
                <a:effectLst/>
              </a:rPr>
              <a:t> </a:t>
            </a:r>
            <a:r>
              <a:rPr lang="en-GB" err="1">
                <a:effectLst/>
              </a:rPr>
              <a:t>finibus</a:t>
            </a:r>
            <a:r>
              <a:rPr lang="en-GB">
                <a:effectLst/>
              </a:rPr>
              <a:t> </a:t>
            </a:r>
            <a:r>
              <a:rPr lang="en-GB" err="1">
                <a:effectLst/>
              </a:rPr>
              <a:t>tortor</a:t>
            </a:r>
            <a:r>
              <a:rPr lang="en-GB">
                <a:effectLst/>
              </a:rPr>
              <a:t> </a:t>
            </a:r>
            <a:r>
              <a:rPr lang="en-GB" err="1">
                <a:effectLst/>
              </a:rPr>
              <a:t>elit</a:t>
            </a:r>
            <a:r>
              <a:rPr lang="en-GB">
                <a:effectLst/>
              </a:rPr>
              <a:t> sit </a:t>
            </a:r>
            <a:r>
              <a:rPr lang="en-GB" err="1">
                <a:effectLst/>
              </a:rPr>
              <a:t>amet</a:t>
            </a:r>
            <a:r>
              <a:rPr lang="en-GB">
                <a:effectLst/>
              </a:rPr>
              <a:t> </a:t>
            </a:r>
            <a:r>
              <a:rPr lang="en-GB" err="1">
                <a:effectLst/>
              </a:rPr>
              <a:t>augue</a:t>
            </a:r>
            <a:r>
              <a:rPr lang="en-GB">
                <a:effectLst/>
              </a:rPr>
              <a:t>. </a:t>
            </a:r>
            <a:r>
              <a:rPr lang="en-GB" err="1">
                <a:effectLst/>
              </a:rPr>
              <a:t>Quisque</a:t>
            </a:r>
            <a:r>
              <a:rPr lang="en-GB">
                <a:effectLst/>
              </a:rPr>
              <a:t> </a:t>
            </a:r>
            <a:r>
              <a:rPr lang="en-GB" err="1">
                <a:effectLst/>
              </a:rPr>
              <a:t>euismod</a:t>
            </a:r>
            <a:r>
              <a:rPr lang="en-GB">
                <a:effectLst/>
              </a:rPr>
              <a:t> auctor nisi, et </a:t>
            </a:r>
            <a:r>
              <a:rPr lang="en-GB" err="1">
                <a:effectLst/>
              </a:rPr>
              <a:t>tristique</a:t>
            </a:r>
            <a:r>
              <a:rPr lang="en-GB">
                <a:effectLst/>
              </a:rPr>
              <a:t> </a:t>
            </a:r>
            <a:r>
              <a:rPr lang="en-GB" err="1">
                <a:effectLst/>
              </a:rPr>
              <a:t>elit</a:t>
            </a:r>
            <a:r>
              <a:rPr lang="en-GB">
                <a:effectLst/>
              </a:rPr>
              <a:t> cursus vitae. </a:t>
            </a:r>
            <a:r>
              <a:rPr lang="en-GB" err="1">
                <a:effectLst/>
              </a:rPr>
              <a:t>Nulla</a:t>
            </a:r>
            <a:r>
              <a:rPr lang="en-GB">
                <a:effectLst/>
              </a:rPr>
              <a:t> </a:t>
            </a:r>
            <a:r>
              <a:rPr lang="en-GB" err="1">
                <a:effectLst/>
              </a:rPr>
              <a:t>facilisi</a:t>
            </a:r>
            <a:r>
              <a:rPr lang="en-GB">
                <a:effectLst/>
              </a:rPr>
              <a:t>. </a:t>
            </a:r>
            <a:endParaRPr lang="en-GB"/>
          </a:p>
        </p:txBody>
      </p:sp>
      <p:sp>
        <p:nvSpPr>
          <p:cNvPr id="9" name="Slide Number Placeholder 14">
            <a:extLst>
              <a:ext uri="{FF2B5EF4-FFF2-40B4-BE49-F238E27FC236}">
                <a16:creationId xmlns:a16="http://schemas.microsoft.com/office/drawing/2014/main" id="{341BF005-F903-11D4-6C87-E29CE2F2DE7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spTree>
    <p:extLst>
      <p:ext uri="{BB962C8B-B14F-4D97-AF65-F5344CB8AC3E}">
        <p14:creationId xmlns:p14="http://schemas.microsoft.com/office/powerpoint/2010/main" val="1870141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pic>
        <p:nvPicPr>
          <p:cNvPr id="5" name="Picture 4">
            <a:extLst>
              <a:ext uri="{FF2B5EF4-FFF2-40B4-BE49-F238E27FC236}">
                <a16:creationId xmlns:a16="http://schemas.microsoft.com/office/drawing/2014/main" id="{7F10C2ED-582C-7DEA-FFF0-044A9E078165}"/>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404703381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86" r:id="rId3"/>
    <p:sldLayoutId id="2147483687" r:id="rId4"/>
  </p:sldLayoutIdLst>
  <p:hf hdr="0" ftr="0" dt="0"/>
  <p:txStyles>
    <p:titleStyle>
      <a:lvl1pPr algn="l" defTabSz="914400" rtl="0" eaLnBrk="1" latinLnBrk="0" hangingPunct="1">
        <a:lnSpc>
          <a:spcPts val="5400"/>
        </a:lnSpc>
        <a:spcBef>
          <a:spcPct val="0"/>
        </a:spcBef>
        <a:buNone/>
        <a:defRPr sz="58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860"/>
        </a:lnSpc>
        <a:spcBef>
          <a:spcPts val="1000"/>
        </a:spcBef>
        <a:buFont typeface="Arial" panose="020B0604020202020204" pitchFamily="34" charset="0"/>
        <a:buChar char="•"/>
        <a:defRPr sz="2800" b="1"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pic>
        <p:nvPicPr>
          <p:cNvPr id="4" name="Picture 3">
            <a:extLst>
              <a:ext uri="{FF2B5EF4-FFF2-40B4-BE49-F238E27FC236}">
                <a16:creationId xmlns:a16="http://schemas.microsoft.com/office/drawing/2014/main" id="{FE6329B7-E0A2-898D-79A5-11439A1599C4}"/>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451939189"/>
      </p:ext>
    </p:extLst>
  </p:cSld>
  <p:clrMap bg1="lt1" tx1="dk1" bg2="lt2" tx2="dk2" accent1="accent1" accent2="accent2" accent3="accent3" accent4="accent4" accent5="accent5" accent6="accent6" hlink="hlink" folHlink="folHlink"/>
  <p:sldLayoutIdLst>
    <p:sldLayoutId id="2147483685" r:id="rId1"/>
  </p:sldLayoutIdLst>
  <p:hf hdr="0" ftr="0" dt="0"/>
  <p:txStyles>
    <p:titleStyle>
      <a:lvl1pPr algn="l" defTabSz="914400" rtl="0" eaLnBrk="1" latinLnBrk="0" hangingPunct="1">
        <a:lnSpc>
          <a:spcPts val="5400"/>
        </a:lnSpc>
        <a:spcBef>
          <a:spcPct val="0"/>
        </a:spcBef>
        <a:buNone/>
        <a:defRPr sz="58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860"/>
        </a:lnSpc>
        <a:spcBef>
          <a:spcPts val="1000"/>
        </a:spcBef>
        <a:buFont typeface="Arial" panose="020B0604020202020204" pitchFamily="34" charset="0"/>
        <a:buChar char="•"/>
        <a:defRPr sz="2800" b="1"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spTree>
    <p:extLst>
      <p:ext uri="{BB962C8B-B14F-4D97-AF65-F5344CB8AC3E}">
        <p14:creationId xmlns:p14="http://schemas.microsoft.com/office/powerpoint/2010/main" val="2349696289"/>
      </p:ext>
    </p:extLst>
  </p:cSld>
  <p:clrMap bg1="lt1" tx1="dk1" bg2="lt2" tx2="dk2" accent1="accent1" accent2="accent2" accent3="accent3" accent4="accent4" accent5="accent5" accent6="accent6" hlink="hlink" folHlink="folHlink"/>
  <p:sldLayoutIdLst>
    <p:sldLayoutId id="2147483682" r:id="rId1"/>
    <p:sldLayoutId id="2147483683" r:id="rId2"/>
  </p:sldLayoutIdLst>
  <p:hf hdr="0" ftr="0" dt="0"/>
  <p:txStyles>
    <p:titleStyle>
      <a:lvl1pPr algn="l" defTabSz="914400" rtl="0" eaLnBrk="1" latinLnBrk="0" hangingPunct="1">
        <a:lnSpc>
          <a:spcPts val="5400"/>
        </a:lnSpc>
        <a:spcBef>
          <a:spcPct val="0"/>
        </a:spcBef>
        <a:buNone/>
        <a:defRPr sz="48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860"/>
        </a:lnSpc>
        <a:spcBef>
          <a:spcPts val="1000"/>
        </a:spcBef>
        <a:buFont typeface="Arial" panose="020B0604020202020204" pitchFamily="34" charset="0"/>
        <a:buChar char="•"/>
        <a:defRPr sz="2800" b="1"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96EF01-5704-4466-6369-6BEBFD6D73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77AF55-16A8-2519-1E27-F917A7CAB1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Subheading</a:t>
            </a:r>
          </a:p>
        </p:txBody>
      </p:sp>
      <p:sp>
        <p:nvSpPr>
          <p:cNvPr id="15" name="Slide Number Placeholder 14">
            <a:extLst>
              <a:ext uri="{FF2B5EF4-FFF2-40B4-BE49-F238E27FC236}">
                <a16:creationId xmlns:a16="http://schemas.microsoft.com/office/drawing/2014/main" id="{70F289E1-C4C9-4053-14FE-BB4AECBCF714}"/>
              </a:ext>
            </a:extLst>
          </p:cNvPr>
          <p:cNvSpPr>
            <a:spLocks noGrp="1"/>
          </p:cNvSpPr>
          <p:nvPr>
            <p:ph type="sldNum" sz="quarter" idx="4"/>
          </p:nvPr>
        </p:nvSpPr>
        <p:spPr>
          <a:xfrm>
            <a:off x="8610600" y="6176963"/>
            <a:ext cx="2743200" cy="365125"/>
          </a:xfrm>
          <a:prstGeom prst="rect">
            <a:avLst/>
          </a:prstGeom>
        </p:spPr>
        <p:txBody>
          <a:bodyPr vert="horz" lIns="91440" tIns="45720" rIns="91440" bIns="45720" rtlCol="0" anchor="ctr"/>
          <a:lstStyle>
            <a:lvl1pPr algn="r">
              <a:defRPr sz="1200" b="1" i="0">
                <a:solidFill>
                  <a:schemeClr val="tx1"/>
                </a:solidFill>
                <a:latin typeface="Arial" panose="020B0604020202020204" pitchFamily="34" charset="0"/>
                <a:cs typeface="Arial" panose="020B0604020202020204" pitchFamily="34" charset="0"/>
              </a:defRPr>
            </a:lvl1pPr>
          </a:lstStyle>
          <a:p>
            <a:fld id="{10390E37-E81B-D94E-8F4C-F7866DC26FF5}" type="slidenum">
              <a:rPr lang="en-US" smtClean="0"/>
              <a:pPr/>
              <a:t>‹#›</a:t>
            </a:fld>
            <a:endParaRPr lang="en-US" dirty="0"/>
          </a:p>
        </p:txBody>
      </p:sp>
      <p:pic>
        <p:nvPicPr>
          <p:cNvPr id="4" name="Picture 3">
            <a:extLst>
              <a:ext uri="{FF2B5EF4-FFF2-40B4-BE49-F238E27FC236}">
                <a16:creationId xmlns:a16="http://schemas.microsoft.com/office/drawing/2014/main" id="{E1ED5F20-B499-D1E6-534C-7C652A13ADCD}"/>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0" y="6771143"/>
            <a:ext cx="12192000" cy="86857"/>
          </a:xfrm>
          <a:prstGeom prst="rect">
            <a:avLst/>
          </a:prstGeom>
        </p:spPr>
      </p:pic>
    </p:spTree>
    <p:extLst>
      <p:ext uri="{BB962C8B-B14F-4D97-AF65-F5344CB8AC3E}">
        <p14:creationId xmlns:p14="http://schemas.microsoft.com/office/powerpoint/2010/main" val="780920053"/>
      </p:ext>
    </p:extLst>
  </p:cSld>
  <p:clrMap bg1="lt1" tx1="dk1" bg2="lt2" tx2="dk2" accent1="accent1" accent2="accent2" accent3="accent3" accent4="accent4" accent5="accent5" accent6="accent6" hlink="hlink" folHlink="folHlink"/>
  <p:sldLayoutIdLst>
    <p:sldLayoutId id="2147483648" r:id="rId1"/>
    <p:sldLayoutId id="2147483653" r:id="rId2"/>
    <p:sldLayoutId id="2147483654" r:id="rId3"/>
    <p:sldLayoutId id="2147483651" r:id="rId4"/>
    <p:sldLayoutId id="2147483650" r:id="rId5"/>
    <p:sldLayoutId id="2147483652" r:id="rId6"/>
    <p:sldLayoutId id="2147483649" r:id="rId7"/>
  </p:sldLayoutIdLst>
  <p:hf hdr="0" ftr="0" dt="0"/>
  <p:txStyles>
    <p:titleStyle>
      <a:lvl1pPr algn="l" defTabSz="914400" rtl="0" eaLnBrk="1" latinLnBrk="0" hangingPunct="1">
        <a:lnSpc>
          <a:spcPts val="4500"/>
        </a:lnSpc>
        <a:spcBef>
          <a:spcPct val="0"/>
        </a:spcBef>
        <a:buNone/>
        <a:defRPr sz="4500" b="1" i="0" kern="1200" spc="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ts val="2700"/>
        </a:lnSpc>
        <a:spcBef>
          <a:spcPts val="1000"/>
        </a:spcBef>
        <a:spcAft>
          <a:spcPts val="1400"/>
        </a:spcAft>
        <a:buFont typeface="Arial" panose="020B0604020202020204" pitchFamily="34" charset="0"/>
        <a:buChar char="•"/>
        <a:defRPr sz="1800" b="0" i="0" kern="1200" spc="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062B8A3-4DB5-4086-A0A3-D0813F13958A}"/>
              </a:ext>
            </a:extLst>
          </p:cNvPr>
          <p:cNvPicPr>
            <a:picLocks noGrp="1" noChangeAspect="1"/>
          </p:cNvPicPr>
          <p:nvPr>
            <p:ph type="pic" sz="quarter" idx="10"/>
          </p:nvPr>
        </p:nvPicPr>
        <p:blipFill>
          <a:blip r:embed="rId3" cstate="email">
            <a:extLst>
              <a:ext uri="{28A0092B-C50C-407E-A947-70E740481C1C}">
                <a14:useLocalDpi xmlns:a14="http://schemas.microsoft.com/office/drawing/2010/main"/>
              </a:ext>
            </a:extLst>
          </a:blip>
          <a:srcRect l="12230" r="12230"/>
          <a:stretch>
            <a:fillRect/>
          </a:stretch>
        </p:blipFill>
        <p:spPr>
          <a:xfrm>
            <a:off x="6682733" y="1935117"/>
            <a:ext cx="5509267" cy="4850216"/>
          </a:xfrm>
        </p:spPr>
      </p:pic>
      <p:sp>
        <p:nvSpPr>
          <p:cNvPr id="2" name="Title 1">
            <a:extLst>
              <a:ext uri="{FF2B5EF4-FFF2-40B4-BE49-F238E27FC236}">
                <a16:creationId xmlns:a16="http://schemas.microsoft.com/office/drawing/2014/main" id="{185C8B1E-DE02-7DF6-229B-B571CDB5094D}"/>
              </a:ext>
            </a:extLst>
          </p:cNvPr>
          <p:cNvSpPr>
            <a:spLocks noGrp="1"/>
          </p:cNvSpPr>
          <p:nvPr>
            <p:ph type="ctrTitle"/>
          </p:nvPr>
        </p:nvSpPr>
        <p:spPr>
          <a:xfrm>
            <a:off x="791549" y="2491980"/>
            <a:ext cx="6893106" cy="1677243"/>
          </a:xfrm>
        </p:spPr>
        <p:txBody>
          <a:bodyPr>
            <a:normAutofit/>
          </a:bodyPr>
          <a:lstStyle/>
          <a:p>
            <a:r>
              <a:rPr lang="en-US" dirty="0"/>
              <a:t>Acute Multiple Disadvantage</a:t>
            </a:r>
          </a:p>
        </p:txBody>
      </p:sp>
      <p:sp>
        <p:nvSpPr>
          <p:cNvPr id="3" name="Subtitle 2">
            <a:extLst>
              <a:ext uri="{FF2B5EF4-FFF2-40B4-BE49-F238E27FC236}">
                <a16:creationId xmlns:a16="http://schemas.microsoft.com/office/drawing/2014/main" id="{5F7CDCE7-A2CA-0CA9-6007-66251EBB1F0F}"/>
              </a:ext>
            </a:extLst>
          </p:cNvPr>
          <p:cNvSpPr>
            <a:spLocks noGrp="1"/>
          </p:cNvSpPr>
          <p:nvPr>
            <p:ph type="subTitle" idx="1"/>
          </p:nvPr>
        </p:nvSpPr>
        <p:spPr>
          <a:xfrm>
            <a:off x="791549" y="5032785"/>
            <a:ext cx="3861316" cy="1417176"/>
          </a:xfrm>
        </p:spPr>
        <p:txBody>
          <a:bodyPr/>
          <a:lstStyle/>
          <a:p>
            <a:r>
              <a:rPr lang="en-US" sz="1800" dirty="0"/>
              <a:t>PHM &amp; Insights Team</a:t>
            </a:r>
          </a:p>
          <a:p>
            <a:endParaRPr lang="en-US" sz="1800" dirty="0"/>
          </a:p>
        </p:txBody>
      </p:sp>
    </p:spTree>
    <p:extLst>
      <p:ext uri="{BB962C8B-B14F-4D97-AF65-F5344CB8AC3E}">
        <p14:creationId xmlns:p14="http://schemas.microsoft.com/office/powerpoint/2010/main" val="742242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91220-5695-CC04-46ED-73CDEE3A9C63}"/>
              </a:ext>
            </a:extLst>
          </p:cNvPr>
          <p:cNvSpPr>
            <a:spLocks noGrp="1"/>
          </p:cNvSpPr>
          <p:nvPr>
            <p:ph type="title"/>
          </p:nvPr>
        </p:nvSpPr>
        <p:spPr/>
        <p:txBody>
          <a:bodyPr>
            <a:normAutofit/>
          </a:bodyPr>
          <a:lstStyle/>
          <a:p>
            <a:r>
              <a:rPr lang="en-US" sz="4500" dirty="0"/>
              <a:t>Introduction</a:t>
            </a:r>
          </a:p>
        </p:txBody>
      </p:sp>
      <p:sp>
        <p:nvSpPr>
          <p:cNvPr id="3" name="Text Placeholder 2">
            <a:extLst>
              <a:ext uri="{FF2B5EF4-FFF2-40B4-BE49-F238E27FC236}">
                <a16:creationId xmlns:a16="http://schemas.microsoft.com/office/drawing/2014/main" id="{A9F7EAA3-22B4-FB1E-8787-576C4853B423}"/>
              </a:ext>
            </a:extLst>
          </p:cNvPr>
          <p:cNvSpPr>
            <a:spLocks noGrp="1"/>
          </p:cNvSpPr>
          <p:nvPr>
            <p:ph type="body" sz="quarter" idx="10"/>
          </p:nvPr>
        </p:nvSpPr>
        <p:spPr>
          <a:xfrm>
            <a:off x="763695" y="1768581"/>
            <a:ext cx="6082874" cy="4803670"/>
          </a:xfrm>
        </p:spPr>
        <p:txBody>
          <a:bodyPr/>
          <a:lstStyle/>
          <a:p>
            <a:pPr>
              <a:lnSpc>
                <a:spcPct val="100000"/>
              </a:lnSpc>
              <a:spcBef>
                <a:spcPts val="3000"/>
              </a:spcBef>
            </a:pPr>
            <a:r>
              <a:rPr lang="en-GB" b="0" dirty="0"/>
              <a:t>This project analysed acute multiple disadvantage across BNSSG to identify a small but highly vulnerable group of adults experiencing overlapping health and social care needs. </a:t>
            </a:r>
          </a:p>
          <a:p>
            <a:pPr>
              <a:lnSpc>
                <a:spcPct val="100000"/>
              </a:lnSpc>
              <a:spcBef>
                <a:spcPts val="3000"/>
              </a:spcBef>
            </a:pPr>
            <a:r>
              <a:rPr lang="en-GB" b="0" dirty="0"/>
              <a:t>Using linked system-wide data (as at April 2024), the analysis focused on people meeting at least three of four criteria:</a:t>
            </a:r>
          </a:p>
          <a:p>
            <a:pPr marL="285750" indent="-285750">
              <a:lnSpc>
                <a:spcPct val="100000"/>
              </a:lnSpc>
              <a:spcBef>
                <a:spcPts val="1200"/>
              </a:spcBef>
              <a:spcAft>
                <a:spcPts val="1200"/>
              </a:spcAft>
              <a:buFont typeface="Arial" panose="020B0604020202020204" pitchFamily="34" charset="0"/>
              <a:buChar char="•"/>
            </a:pPr>
            <a:r>
              <a:rPr lang="en-GB" b="0" dirty="0"/>
              <a:t>homelessness or insecure housing</a:t>
            </a:r>
          </a:p>
          <a:p>
            <a:pPr marL="285750" indent="-285750">
              <a:lnSpc>
                <a:spcPct val="100000"/>
              </a:lnSpc>
              <a:spcBef>
                <a:spcPts val="1200"/>
              </a:spcBef>
              <a:spcAft>
                <a:spcPts val="1200"/>
              </a:spcAft>
              <a:buFont typeface="Arial" panose="020B0604020202020204" pitchFamily="34" charset="0"/>
              <a:buChar char="•"/>
            </a:pPr>
            <a:r>
              <a:rPr lang="en-GB" b="0" dirty="0"/>
              <a:t>substance or alcohol dependence, </a:t>
            </a:r>
          </a:p>
          <a:p>
            <a:pPr marL="285750" indent="-285750">
              <a:lnSpc>
                <a:spcPct val="100000"/>
              </a:lnSpc>
              <a:spcBef>
                <a:spcPts val="1200"/>
              </a:spcBef>
              <a:spcAft>
                <a:spcPts val="1200"/>
              </a:spcAft>
              <a:buFont typeface="Arial" panose="020B0604020202020204" pitchFamily="34" charset="0"/>
              <a:buChar char="•"/>
            </a:pPr>
            <a:r>
              <a:rPr lang="en-GB" b="0" dirty="0"/>
              <a:t>mental health conditions, and </a:t>
            </a:r>
          </a:p>
          <a:p>
            <a:pPr marL="285750" indent="-285750">
              <a:lnSpc>
                <a:spcPct val="100000"/>
              </a:lnSpc>
              <a:spcBef>
                <a:spcPts val="1200"/>
              </a:spcBef>
              <a:spcAft>
                <a:spcPts val="1200"/>
              </a:spcAft>
              <a:buFont typeface="Arial" panose="020B0604020202020204" pitchFamily="34" charset="0"/>
              <a:buChar char="•"/>
            </a:pPr>
            <a:r>
              <a:rPr lang="en-GB" b="0" dirty="0"/>
              <a:t>contact with adult social care. </a:t>
            </a:r>
            <a:endParaRPr lang="en-US" b="0" dirty="0"/>
          </a:p>
        </p:txBody>
      </p:sp>
      <p:pic>
        <p:nvPicPr>
          <p:cNvPr id="6" name="Picture Placeholder 5" descr="A person holding a baby&#10;&#10;Description automatically generated">
            <a:extLst>
              <a:ext uri="{FF2B5EF4-FFF2-40B4-BE49-F238E27FC236}">
                <a16:creationId xmlns:a16="http://schemas.microsoft.com/office/drawing/2014/main" id="{1CB3B2E7-BEC3-4441-1D3D-BA0AD1EFBAB1}"/>
              </a:ext>
            </a:extLst>
          </p:cNvPr>
          <p:cNvPicPr>
            <a:picLocks noGrp="1" noChangeAspect="1"/>
          </p:cNvPicPr>
          <p:nvPr>
            <p:ph type="pic" sz="quarter" idx="11"/>
          </p:nvPr>
        </p:nvPicPr>
        <p:blipFill rotWithShape="1">
          <a:blip r:embed="rId3" cstate="email">
            <a:extLst>
              <a:ext uri="{28A0092B-C50C-407E-A947-70E740481C1C}">
                <a14:useLocalDpi xmlns:a14="http://schemas.microsoft.com/office/drawing/2010/main"/>
              </a:ext>
            </a:extLst>
          </a:blip>
          <a:srcRect l="-640" t="192" r="36620" b="-192"/>
          <a:stretch/>
        </p:blipFill>
        <p:spPr>
          <a:xfrm>
            <a:off x="6749622" y="1113167"/>
            <a:ext cx="5446103" cy="5671213"/>
          </a:xfrm>
        </p:spPr>
      </p:pic>
    </p:spTree>
    <p:extLst>
      <p:ext uri="{BB962C8B-B14F-4D97-AF65-F5344CB8AC3E}">
        <p14:creationId xmlns:p14="http://schemas.microsoft.com/office/powerpoint/2010/main" val="405136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14B58-F277-FF61-7E91-5185A394F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C4EA9-FC86-07BE-B5F1-6AFC31EF1009}"/>
              </a:ext>
            </a:extLst>
          </p:cNvPr>
          <p:cNvSpPr>
            <a:spLocks noGrp="1"/>
          </p:cNvSpPr>
          <p:nvPr>
            <p:ph type="title"/>
          </p:nvPr>
        </p:nvSpPr>
        <p:spPr>
          <a:xfrm>
            <a:off x="125731" y="83574"/>
            <a:ext cx="11955780" cy="1325563"/>
          </a:xfrm>
        </p:spPr>
        <p:txBody>
          <a:bodyPr>
            <a:noAutofit/>
          </a:bodyPr>
          <a:lstStyle/>
          <a:p>
            <a:pPr lvl="0"/>
            <a:r>
              <a:rPr lang="en-GB" sz="3600" dirty="0"/>
              <a:t>The cohort comprises 1,751 individuals, representing 0.22% of the BNSSG adult population </a:t>
            </a:r>
            <a:r>
              <a:rPr lang="en-GB" sz="1800" dirty="0"/>
              <a:t>(April 2024)</a:t>
            </a:r>
            <a:endParaRPr lang="en-GB" sz="3600" dirty="0"/>
          </a:p>
        </p:txBody>
      </p:sp>
      <p:sp>
        <p:nvSpPr>
          <p:cNvPr id="4" name="Slide Number Placeholder 3">
            <a:extLst>
              <a:ext uri="{FF2B5EF4-FFF2-40B4-BE49-F238E27FC236}">
                <a16:creationId xmlns:a16="http://schemas.microsoft.com/office/drawing/2014/main" id="{6AE6936A-A5D7-ECAB-209C-91F44A0B5C51}"/>
              </a:ext>
            </a:extLst>
          </p:cNvPr>
          <p:cNvSpPr>
            <a:spLocks noGrp="1"/>
          </p:cNvSpPr>
          <p:nvPr>
            <p:ph type="sldNum" sz="quarter" idx="4"/>
          </p:nvPr>
        </p:nvSpPr>
        <p:spPr/>
        <p:txBody>
          <a:bodyPr/>
          <a:lstStyle/>
          <a:p>
            <a:fld id="{10390E37-E81B-D94E-8F4C-F7866DC26FF5}" type="slidenum">
              <a:rPr lang="en-US" smtClean="0"/>
              <a:pPr/>
              <a:t>3</a:t>
            </a:fld>
            <a:endParaRPr lang="en-US" dirty="0"/>
          </a:p>
        </p:txBody>
      </p:sp>
      <p:pic>
        <p:nvPicPr>
          <p:cNvPr id="5" name="Picture 4">
            <a:extLst>
              <a:ext uri="{FF2B5EF4-FFF2-40B4-BE49-F238E27FC236}">
                <a16:creationId xmlns:a16="http://schemas.microsoft.com/office/drawing/2014/main" id="{A154237B-C65A-94DD-E945-CF98C40B11A6}"/>
              </a:ext>
            </a:extLst>
          </p:cNvPr>
          <p:cNvPicPr>
            <a:picLocks noChangeAspect="1"/>
          </p:cNvPicPr>
          <p:nvPr/>
        </p:nvPicPr>
        <p:blipFill>
          <a:blip r:embed="rId3"/>
          <a:stretch>
            <a:fillRect/>
          </a:stretch>
        </p:blipFill>
        <p:spPr>
          <a:xfrm>
            <a:off x="5236580" y="1885222"/>
            <a:ext cx="6748040" cy="4387155"/>
          </a:xfrm>
          <a:prstGeom prst="rect">
            <a:avLst/>
          </a:prstGeom>
        </p:spPr>
      </p:pic>
      <p:sp>
        <p:nvSpPr>
          <p:cNvPr id="7" name="TextBox 6">
            <a:extLst>
              <a:ext uri="{FF2B5EF4-FFF2-40B4-BE49-F238E27FC236}">
                <a16:creationId xmlns:a16="http://schemas.microsoft.com/office/drawing/2014/main" id="{5C26DD82-A1C0-5BB5-678C-77E3CEDAA2C4}"/>
              </a:ext>
            </a:extLst>
          </p:cNvPr>
          <p:cNvSpPr txBox="1"/>
          <p:nvPr/>
        </p:nvSpPr>
        <p:spPr>
          <a:xfrm>
            <a:off x="199084" y="1973112"/>
            <a:ext cx="4163729" cy="4524315"/>
          </a:xfrm>
          <a:prstGeom prst="rect">
            <a:avLst/>
          </a:prstGeom>
          <a:noFill/>
        </p:spPr>
        <p:txBody>
          <a:bodyPr wrap="square">
            <a:spAutoFit/>
          </a:bodyPr>
          <a:lstStyle/>
          <a:p>
            <a:pPr algn="l">
              <a:buNone/>
            </a:pPr>
            <a:r>
              <a:rPr lang="en-GB" b="0" i="0" dirty="0">
                <a:solidFill>
                  <a:schemeClr val="tx1"/>
                </a:solidFill>
                <a:effectLst/>
                <a:latin typeface="Arial" panose="020B0604020202020204" pitchFamily="34" charset="0"/>
              </a:rPr>
              <a:t>This Venn diagram shows the number of people in each criteria combination.</a:t>
            </a:r>
          </a:p>
          <a:p>
            <a:pPr algn="l">
              <a:buNone/>
            </a:pPr>
            <a:endParaRPr lang="en-GB" dirty="0">
              <a:solidFill>
                <a:schemeClr val="tx1"/>
              </a:solidFill>
              <a:latin typeface="Arial" panose="020B0604020202020204" pitchFamily="34" charset="0"/>
            </a:endParaRPr>
          </a:p>
          <a:p>
            <a:pPr algn="l">
              <a:buNone/>
            </a:pPr>
            <a:r>
              <a:rPr lang="en-GB" b="0" i="0" dirty="0">
                <a:solidFill>
                  <a:schemeClr val="tx1"/>
                </a:solidFill>
                <a:effectLst/>
                <a:latin typeface="Arial" panose="020B0604020202020204" pitchFamily="34" charset="0"/>
              </a:rPr>
              <a:t>A person is only counted </a:t>
            </a:r>
            <a:r>
              <a:rPr lang="en-GB" b="1" i="0" dirty="0">
                <a:solidFill>
                  <a:schemeClr val="tx1"/>
                </a:solidFill>
                <a:effectLst/>
                <a:latin typeface="Arial" panose="020B0604020202020204" pitchFamily="34" charset="0"/>
              </a:rPr>
              <a:t>once</a:t>
            </a:r>
            <a:r>
              <a:rPr lang="en-GB" b="0" i="0" dirty="0">
                <a:solidFill>
                  <a:schemeClr val="tx1"/>
                </a:solidFill>
                <a:effectLst/>
                <a:latin typeface="Arial" panose="020B0604020202020204" pitchFamily="34" charset="0"/>
              </a:rPr>
              <a:t> </a:t>
            </a:r>
          </a:p>
          <a:p>
            <a:pPr algn="l">
              <a:buNone/>
            </a:pPr>
            <a:endParaRPr lang="en-GB" dirty="0">
              <a:solidFill>
                <a:schemeClr val="tx1"/>
              </a:solidFill>
              <a:latin typeface="Arial" panose="020B0604020202020204" pitchFamily="34" charset="0"/>
            </a:endParaRPr>
          </a:p>
          <a:p>
            <a:pPr algn="l">
              <a:buNone/>
            </a:pPr>
            <a:r>
              <a:rPr lang="en-GB" b="0" i="0" dirty="0">
                <a:solidFill>
                  <a:schemeClr val="tx1"/>
                </a:solidFill>
                <a:effectLst/>
                <a:latin typeface="Arial" panose="020B0604020202020204" pitchFamily="34" charset="0"/>
              </a:rPr>
              <a:t>Where a person meets three or more of the criteria, they are shown in the segments highlighted in red - these are the Multiple Disadvantage cohort.</a:t>
            </a:r>
          </a:p>
          <a:p>
            <a:pPr algn="l">
              <a:buNone/>
            </a:pPr>
            <a:endParaRPr lang="en-GB" dirty="0">
              <a:solidFill>
                <a:schemeClr val="tx1"/>
              </a:solidFill>
              <a:latin typeface="Arial" panose="020B0604020202020204" pitchFamily="34" charset="0"/>
            </a:endParaRPr>
          </a:p>
          <a:p>
            <a:pPr algn="l">
              <a:buNone/>
            </a:pPr>
            <a:endParaRPr lang="en-GB" b="0" i="0" dirty="0">
              <a:solidFill>
                <a:schemeClr val="tx1"/>
              </a:solidFill>
              <a:effectLst/>
              <a:latin typeface="Arial" panose="020B0604020202020204" pitchFamily="34" charset="0"/>
            </a:endParaRPr>
          </a:p>
          <a:p>
            <a:pPr algn="l">
              <a:buNone/>
            </a:pPr>
            <a:r>
              <a:rPr lang="en-GB" b="0" i="0" dirty="0">
                <a:solidFill>
                  <a:schemeClr val="tx1"/>
                </a:solidFill>
                <a:effectLst/>
                <a:latin typeface="Arial" panose="020B0604020202020204" pitchFamily="34" charset="0"/>
              </a:rPr>
              <a:t>The percentage shown in each segment, is the number of people in the segment divided by the total number of people in all the segments. (A person is only counted once).</a:t>
            </a:r>
          </a:p>
        </p:txBody>
      </p:sp>
    </p:spTree>
    <p:extLst>
      <p:ext uri="{BB962C8B-B14F-4D97-AF65-F5344CB8AC3E}">
        <p14:creationId xmlns:p14="http://schemas.microsoft.com/office/powerpoint/2010/main" val="3404375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A5E4E-3B05-7EC5-9600-AD1BE81C1D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3ABCF-E217-3C0D-FF3D-C40F913E198F}"/>
              </a:ext>
            </a:extLst>
          </p:cNvPr>
          <p:cNvSpPr>
            <a:spLocks noGrp="1"/>
          </p:cNvSpPr>
          <p:nvPr>
            <p:ph type="title"/>
          </p:nvPr>
        </p:nvSpPr>
        <p:spPr>
          <a:xfrm>
            <a:off x="583779" y="162365"/>
            <a:ext cx="10770022" cy="1325563"/>
          </a:xfrm>
        </p:spPr>
        <p:txBody>
          <a:bodyPr>
            <a:noAutofit/>
          </a:bodyPr>
          <a:lstStyle/>
          <a:p>
            <a:pPr>
              <a:lnSpc>
                <a:spcPct val="100000"/>
              </a:lnSpc>
              <a:spcBef>
                <a:spcPts val="0"/>
              </a:spcBef>
            </a:pPr>
            <a:r>
              <a:rPr lang="en-GB" dirty="0"/>
              <a:t>63% of the cohort live in Bristol</a:t>
            </a:r>
          </a:p>
        </p:txBody>
      </p:sp>
      <p:sp>
        <p:nvSpPr>
          <p:cNvPr id="4" name="Slide Number Placeholder 3">
            <a:extLst>
              <a:ext uri="{FF2B5EF4-FFF2-40B4-BE49-F238E27FC236}">
                <a16:creationId xmlns:a16="http://schemas.microsoft.com/office/drawing/2014/main" id="{E669E56D-8045-82AB-6874-E032F19D0103}"/>
              </a:ext>
            </a:extLst>
          </p:cNvPr>
          <p:cNvSpPr>
            <a:spLocks noGrp="1"/>
          </p:cNvSpPr>
          <p:nvPr>
            <p:ph type="sldNum" sz="quarter" idx="4"/>
          </p:nvPr>
        </p:nvSpPr>
        <p:spPr/>
        <p:txBody>
          <a:bodyPr/>
          <a:lstStyle/>
          <a:p>
            <a:fld id="{10390E37-E81B-D94E-8F4C-F7866DC26FF5}" type="slidenum">
              <a:rPr lang="en-US" smtClean="0"/>
              <a:pPr/>
              <a:t>4</a:t>
            </a:fld>
            <a:endParaRPr lang="en-US" dirty="0"/>
          </a:p>
        </p:txBody>
      </p:sp>
      <p:sp>
        <p:nvSpPr>
          <p:cNvPr id="22" name="TextBox 21">
            <a:extLst>
              <a:ext uri="{FF2B5EF4-FFF2-40B4-BE49-F238E27FC236}">
                <a16:creationId xmlns:a16="http://schemas.microsoft.com/office/drawing/2014/main" id="{C0E7487F-23C5-8DB2-49A1-1DB25B189BF3}"/>
              </a:ext>
            </a:extLst>
          </p:cNvPr>
          <p:cNvSpPr txBox="1"/>
          <p:nvPr/>
        </p:nvSpPr>
        <p:spPr>
          <a:xfrm>
            <a:off x="8339153" y="2713590"/>
            <a:ext cx="3852847" cy="2585323"/>
          </a:xfrm>
          <a:prstGeom prst="rect">
            <a:avLst/>
          </a:prstGeom>
          <a:solidFill>
            <a:schemeClr val="bg1"/>
          </a:solidFill>
        </p:spPr>
        <p:txBody>
          <a:bodyPr wrap="square" lIns="91440" tIns="45720" rIns="91440" bIns="45720" rtlCol="0" anchor="t">
            <a:spAutoFit/>
          </a:bodyPr>
          <a:lstStyle/>
          <a:p>
            <a:pPr algn="l"/>
            <a:r>
              <a:rPr lang="en-GB" dirty="0">
                <a:solidFill>
                  <a:schemeClr val="tx1"/>
                </a:solidFill>
                <a:latin typeface="+mn-lt"/>
              </a:rPr>
              <a:t>65% of the cohort are male</a:t>
            </a:r>
          </a:p>
          <a:p>
            <a:pPr algn="l"/>
            <a:endParaRPr lang="en-GB" dirty="0">
              <a:solidFill>
                <a:schemeClr val="tx1"/>
              </a:solidFill>
              <a:latin typeface="+mn-lt"/>
            </a:endParaRPr>
          </a:p>
          <a:p>
            <a:pPr marL="285750" indent="-285750" algn="l">
              <a:buFont typeface="Arial" panose="020B0604020202020204" pitchFamily="34" charset="0"/>
              <a:buChar char="•"/>
            </a:pPr>
            <a:r>
              <a:rPr lang="en-GB" dirty="0">
                <a:solidFill>
                  <a:schemeClr val="tx1"/>
                </a:solidFill>
                <a:latin typeface="+mn-lt"/>
              </a:rPr>
              <a:t>Predominantly middle-aged</a:t>
            </a:r>
          </a:p>
          <a:p>
            <a:pPr algn="l"/>
            <a:endParaRPr lang="en-GB" dirty="0">
              <a:solidFill>
                <a:schemeClr val="tx1"/>
              </a:solidFill>
              <a:latin typeface="+mn-lt"/>
            </a:endParaRPr>
          </a:p>
          <a:p>
            <a:pPr marL="285750" indent="-285750" algn="l">
              <a:buFont typeface="Arial" panose="020B0604020202020204" pitchFamily="34" charset="0"/>
              <a:buChar char="•"/>
            </a:pPr>
            <a:r>
              <a:rPr lang="en-GB" dirty="0">
                <a:solidFill>
                  <a:schemeClr val="tx1"/>
                </a:solidFill>
                <a:latin typeface="+mn-lt"/>
              </a:rPr>
              <a:t>Woodspring where the cohort is older, 70-79 yrs</a:t>
            </a:r>
            <a:endParaRPr lang="en-GB" dirty="0">
              <a:solidFill>
                <a:schemeClr val="tx1"/>
              </a:solidFill>
              <a:latin typeface="+mn-lt"/>
              <a:cs typeface="Arial"/>
            </a:endParaRPr>
          </a:p>
          <a:p>
            <a:pPr marL="285750" indent="-285750" algn="l">
              <a:buFont typeface="Arial" panose="020B0604020202020204" pitchFamily="34" charset="0"/>
              <a:buChar char="•"/>
            </a:pPr>
            <a:endParaRPr lang="en-GB" dirty="0">
              <a:solidFill>
                <a:schemeClr val="tx1"/>
              </a:solidFill>
              <a:latin typeface="+mn-lt"/>
            </a:endParaRPr>
          </a:p>
          <a:p>
            <a:pPr marL="285750" indent="-285750" algn="l">
              <a:buFont typeface="Arial" panose="020B0604020202020204" pitchFamily="34" charset="0"/>
              <a:buChar char="•"/>
            </a:pPr>
            <a:r>
              <a:rPr lang="en-GB" dirty="0">
                <a:solidFill>
                  <a:schemeClr val="tx1"/>
                </a:solidFill>
                <a:latin typeface="+mn-lt"/>
              </a:rPr>
              <a:t>ICE where its is younger 30-40 yrs</a:t>
            </a:r>
          </a:p>
        </p:txBody>
      </p:sp>
      <p:pic>
        <p:nvPicPr>
          <p:cNvPr id="6" name="Picture 5">
            <a:extLst>
              <a:ext uri="{FF2B5EF4-FFF2-40B4-BE49-F238E27FC236}">
                <a16:creationId xmlns:a16="http://schemas.microsoft.com/office/drawing/2014/main" id="{7D3EEBDE-D89F-8623-EDFC-56A97E258DF8}"/>
              </a:ext>
            </a:extLst>
          </p:cNvPr>
          <p:cNvPicPr>
            <a:picLocks noChangeAspect="1"/>
          </p:cNvPicPr>
          <p:nvPr/>
        </p:nvPicPr>
        <p:blipFill>
          <a:blip r:embed="rId3"/>
          <a:stretch>
            <a:fillRect/>
          </a:stretch>
        </p:blipFill>
        <p:spPr>
          <a:xfrm>
            <a:off x="393672" y="1950357"/>
            <a:ext cx="7476851" cy="4650147"/>
          </a:xfrm>
          <a:prstGeom prst="rect">
            <a:avLst/>
          </a:prstGeom>
        </p:spPr>
      </p:pic>
    </p:spTree>
    <p:extLst>
      <p:ext uri="{BB962C8B-B14F-4D97-AF65-F5344CB8AC3E}">
        <p14:creationId xmlns:p14="http://schemas.microsoft.com/office/powerpoint/2010/main" val="4157229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E04FD-6F57-255F-EA60-DF20C9F792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756E1C-E515-026D-8B65-6C62B3986DFD}"/>
              </a:ext>
            </a:extLst>
          </p:cNvPr>
          <p:cNvSpPr>
            <a:spLocks noGrp="1"/>
          </p:cNvSpPr>
          <p:nvPr>
            <p:ph type="title"/>
          </p:nvPr>
        </p:nvSpPr>
        <p:spPr>
          <a:xfrm>
            <a:off x="763695" y="173703"/>
            <a:ext cx="10515600" cy="980067"/>
          </a:xfrm>
        </p:spPr>
        <p:txBody>
          <a:bodyPr/>
          <a:lstStyle/>
          <a:p>
            <a:r>
              <a:rPr lang="en-US" dirty="0"/>
              <a:t>More prevalent in deprived areas</a:t>
            </a:r>
          </a:p>
        </p:txBody>
      </p:sp>
      <p:sp>
        <p:nvSpPr>
          <p:cNvPr id="4" name="Slide Number Placeholder 3">
            <a:extLst>
              <a:ext uri="{FF2B5EF4-FFF2-40B4-BE49-F238E27FC236}">
                <a16:creationId xmlns:a16="http://schemas.microsoft.com/office/drawing/2014/main" id="{B3180399-C701-EC5A-3924-A05BFFE9639D}"/>
              </a:ext>
            </a:extLst>
          </p:cNvPr>
          <p:cNvSpPr>
            <a:spLocks noGrp="1"/>
          </p:cNvSpPr>
          <p:nvPr>
            <p:ph type="sldNum" sz="quarter" idx="4"/>
          </p:nvPr>
        </p:nvSpPr>
        <p:spPr/>
        <p:txBody>
          <a:bodyPr/>
          <a:lstStyle/>
          <a:p>
            <a:fld id="{10390E37-E81B-D94E-8F4C-F7866DC26FF5}" type="slidenum">
              <a:rPr lang="en-US" smtClean="0"/>
              <a:pPr/>
              <a:t>5</a:t>
            </a:fld>
            <a:endParaRPr lang="en-US" dirty="0"/>
          </a:p>
        </p:txBody>
      </p:sp>
      <p:sp>
        <p:nvSpPr>
          <p:cNvPr id="8" name="TextBox 7">
            <a:extLst>
              <a:ext uri="{FF2B5EF4-FFF2-40B4-BE49-F238E27FC236}">
                <a16:creationId xmlns:a16="http://schemas.microsoft.com/office/drawing/2014/main" id="{F39AA304-DE00-4B75-312E-4B892EA2880D}"/>
              </a:ext>
            </a:extLst>
          </p:cNvPr>
          <p:cNvSpPr txBox="1"/>
          <p:nvPr/>
        </p:nvSpPr>
        <p:spPr>
          <a:xfrm>
            <a:off x="7658828" y="1261144"/>
            <a:ext cx="4426279" cy="4801314"/>
          </a:xfrm>
          <a:prstGeom prst="rect">
            <a:avLst/>
          </a:prstGeom>
          <a:noFill/>
          <a:ln w="3175">
            <a:noFill/>
          </a:ln>
        </p:spPr>
        <p:txBody>
          <a:bodyPr wrap="square" lIns="91440" tIns="45720" rIns="91440" bIns="45720" rtlCol="0" anchor="t">
            <a:spAutoFit/>
          </a:bodyPr>
          <a:lstStyle/>
          <a:p>
            <a:pPr algn="l"/>
            <a:r>
              <a:rPr lang="en-GB" b="1" dirty="0">
                <a:solidFill>
                  <a:schemeClr val="tx1"/>
                </a:solidFill>
              </a:rPr>
              <a:t>The top 3 MSOAs in BNSSG with the highest number of people are </a:t>
            </a:r>
          </a:p>
          <a:p>
            <a:pPr marL="285750" indent="-285750" algn="l">
              <a:buFont typeface="Arial" panose="020B0604020202020204" pitchFamily="34" charset="0"/>
              <a:buChar char="•"/>
            </a:pPr>
            <a:r>
              <a:rPr lang="en-GB" dirty="0">
                <a:solidFill>
                  <a:schemeClr val="tx1"/>
                </a:solidFill>
              </a:rPr>
              <a:t>Weston Town, </a:t>
            </a:r>
          </a:p>
          <a:p>
            <a:pPr marL="285750" indent="-285750" algn="l">
              <a:buFont typeface="Arial" panose="020B0604020202020204" pitchFamily="34" charset="0"/>
              <a:buChar char="•"/>
            </a:pPr>
            <a:r>
              <a:rPr lang="en-GB" dirty="0">
                <a:solidFill>
                  <a:schemeClr val="tx1"/>
                </a:solidFill>
              </a:rPr>
              <a:t>Temple Meads, </a:t>
            </a:r>
          </a:p>
          <a:p>
            <a:pPr marL="285750" indent="-285750" algn="l">
              <a:buFont typeface="Arial" panose="020B0604020202020204" pitchFamily="34" charset="0"/>
              <a:buChar char="•"/>
            </a:pPr>
            <a:r>
              <a:rPr lang="en-GB" dirty="0">
                <a:solidFill>
                  <a:schemeClr val="tx1"/>
                </a:solidFill>
              </a:rPr>
              <a:t>Bedminster, </a:t>
            </a:r>
          </a:p>
          <a:p>
            <a:pPr algn="l"/>
            <a:endParaRPr lang="en-GB" dirty="0">
              <a:solidFill>
                <a:schemeClr val="tx1"/>
              </a:solidFill>
            </a:endParaRPr>
          </a:p>
          <a:p>
            <a:pPr algn="l"/>
            <a:r>
              <a:rPr lang="en-GB" b="1" dirty="0">
                <a:solidFill>
                  <a:schemeClr val="tx1"/>
                </a:solidFill>
              </a:rPr>
              <a:t>by prevalence, the top 3 are </a:t>
            </a:r>
          </a:p>
          <a:p>
            <a:pPr marL="285750" indent="-285750" algn="l">
              <a:buFont typeface="Arial" panose="020B0604020202020204" pitchFamily="34" charset="0"/>
              <a:buChar char="•"/>
            </a:pPr>
            <a:r>
              <a:rPr lang="en-GB" dirty="0">
                <a:solidFill>
                  <a:schemeClr val="tx1"/>
                </a:solidFill>
              </a:rPr>
              <a:t>Weston Town, </a:t>
            </a:r>
          </a:p>
          <a:p>
            <a:pPr marL="285750" indent="-285750" algn="l">
              <a:buFont typeface="Arial" panose="020B0604020202020204" pitchFamily="34" charset="0"/>
              <a:buChar char="•"/>
            </a:pPr>
            <a:r>
              <a:rPr lang="en-GB" dirty="0">
                <a:solidFill>
                  <a:schemeClr val="tx1"/>
                </a:solidFill>
              </a:rPr>
              <a:t>Brislington, </a:t>
            </a:r>
          </a:p>
          <a:p>
            <a:pPr marL="285750" indent="-285750" algn="l">
              <a:buFont typeface="Arial" panose="020B0604020202020204" pitchFamily="34" charset="0"/>
              <a:buChar char="•"/>
            </a:pPr>
            <a:r>
              <a:rPr lang="en-GB" dirty="0">
                <a:solidFill>
                  <a:schemeClr val="tx1"/>
                </a:solidFill>
              </a:rPr>
              <a:t>Bedminster. </a:t>
            </a:r>
          </a:p>
          <a:p>
            <a:pPr algn="l"/>
            <a:endParaRPr lang="en-GB" dirty="0">
              <a:solidFill>
                <a:schemeClr val="tx1"/>
              </a:solidFill>
            </a:endParaRPr>
          </a:p>
          <a:p>
            <a:pPr algn="l"/>
            <a:r>
              <a:rPr lang="en-GB" b="1" dirty="0">
                <a:solidFill>
                  <a:schemeClr val="tx1"/>
                </a:solidFill>
              </a:rPr>
              <a:t>When </a:t>
            </a:r>
            <a:r>
              <a:rPr lang="en-GB" b="1" i="1" dirty="0">
                <a:solidFill>
                  <a:schemeClr val="tx1"/>
                </a:solidFill>
              </a:rPr>
              <a:t>indirectly standardised</a:t>
            </a:r>
            <a:r>
              <a:rPr lang="en-GB" b="1" dirty="0">
                <a:solidFill>
                  <a:schemeClr val="tx1"/>
                </a:solidFill>
              </a:rPr>
              <a:t> for age and sex, the MSOAs with the greatest ISRs are </a:t>
            </a:r>
          </a:p>
          <a:p>
            <a:pPr marL="285750" indent="-285750" algn="l">
              <a:buFont typeface="Arial" panose="020B0604020202020204" pitchFamily="34" charset="0"/>
              <a:buChar char="•"/>
            </a:pPr>
            <a:r>
              <a:rPr lang="en-GB" dirty="0">
                <a:solidFill>
                  <a:schemeClr val="tx1"/>
                </a:solidFill>
              </a:rPr>
              <a:t>Temple Meads, </a:t>
            </a:r>
          </a:p>
          <a:p>
            <a:pPr marL="285750" indent="-285750" algn="l">
              <a:buFont typeface="Arial" panose="020B0604020202020204" pitchFamily="34" charset="0"/>
              <a:buChar char="•"/>
            </a:pPr>
            <a:r>
              <a:rPr lang="en-GB" dirty="0">
                <a:solidFill>
                  <a:schemeClr val="tx1"/>
                </a:solidFill>
              </a:rPr>
              <a:t>Weston Town, </a:t>
            </a:r>
          </a:p>
          <a:p>
            <a:pPr marL="285750" indent="-285750" algn="l">
              <a:buFont typeface="Arial" panose="020B0604020202020204" pitchFamily="34" charset="0"/>
              <a:buChar char="•"/>
            </a:pPr>
            <a:r>
              <a:rPr lang="en-GB" dirty="0">
                <a:solidFill>
                  <a:schemeClr val="tx1"/>
                </a:solidFill>
              </a:rPr>
              <a:t>Brislington.</a:t>
            </a:r>
            <a:endParaRPr lang="en-GB" dirty="0">
              <a:solidFill>
                <a:schemeClr val="tx1"/>
              </a:solidFill>
              <a:latin typeface="+mn-lt"/>
            </a:endParaRPr>
          </a:p>
        </p:txBody>
      </p:sp>
      <p:sp>
        <p:nvSpPr>
          <p:cNvPr id="22" name="TextBox 21">
            <a:extLst>
              <a:ext uri="{FF2B5EF4-FFF2-40B4-BE49-F238E27FC236}">
                <a16:creationId xmlns:a16="http://schemas.microsoft.com/office/drawing/2014/main" id="{76E9E900-0301-2601-D555-B28F61604CA9}"/>
              </a:ext>
            </a:extLst>
          </p:cNvPr>
          <p:cNvSpPr txBox="1"/>
          <p:nvPr/>
        </p:nvSpPr>
        <p:spPr>
          <a:xfrm>
            <a:off x="106893" y="1764228"/>
            <a:ext cx="3712684" cy="369332"/>
          </a:xfrm>
          <a:prstGeom prst="rect">
            <a:avLst/>
          </a:prstGeom>
          <a:noFill/>
        </p:spPr>
        <p:txBody>
          <a:bodyPr wrap="square" rtlCol="0">
            <a:spAutoFit/>
          </a:bodyPr>
          <a:lstStyle/>
          <a:p>
            <a:pPr algn="ctr"/>
            <a:r>
              <a:rPr lang="en-GB" b="1" dirty="0">
                <a:solidFill>
                  <a:schemeClr val="tx1"/>
                </a:solidFill>
                <a:latin typeface="+mn-lt"/>
              </a:rPr>
              <a:t>Deprivation and age profile</a:t>
            </a:r>
          </a:p>
        </p:txBody>
      </p:sp>
      <p:pic>
        <p:nvPicPr>
          <p:cNvPr id="5" name="Picture 4">
            <a:extLst>
              <a:ext uri="{FF2B5EF4-FFF2-40B4-BE49-F238E27FC236}">
                <a16:creationId xmlns:a16="http://schemas.microsoft.com/office/drawing/2014/main" id="{C8A1FB1B-F8CC-FC4B-8CD0-7175E51495DE}"/>
              </a:ext>
            </a:extLst>
          </p:cNvPr>
          <p:cNvPicPr>
            <a:picLocks noChangeAspect="1"/>
          </p:cNvPicPr>
          <p:nvPr/>
        </p:nvPicPr>
        <p:blipFill>
          <a:blip r:embed="rId3"/>
          <a:stretch>
            <a:fillRect/>
          </a:stretch>
        </p:blipFill>
        <p:spPr>
          <a:xfrm>
            <a:off x="362217" y="2240934"/>
            <a:ext cx="7296611" cy="3970319"/>
          </a:xfrm>
          <a:prstGeom prst="rect">
            <a:avLst/>
          </a:prstGeom>
        </p:spPr>
      </p:pic>
    </p:spTree>
    <p:extLst>
      <p:ext uri="{BB962C8B-B14F-4D97-AF65-F5344CB8AC3E}">
        <p14:creationId xmlns:p14="http://schemas.microsoft.com/office/powerpoint/2010/main" val="1242058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B448D-9BDB-A12E-0126-142B0AEADE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A5A58-828E-06BF-8C3D-C78EE2C9FC6A}"/>
              </a:ext>
            </a:extLst>
          </p:cNvPr>
          <p:cNvSpPr>
            <a:spLocks noGrp="1"/>
          </p:cNvSpPr>
          <p:nvPr>
            <p:ph type="title"/>
          </p:nvPr>
        </p:nvSpPr>
        <p:spPr>
          <a:xfrm>
            <a:off x="230076" y="84724"/>
            <a:ext cx="11731847" cy="1540287"/>
          </a:xfrm>
        </p:spPr>
        <p:txBody>
          <a:bodyPr vert="horz" lIns="91440" tIns="45720" rIns="91440" bIns="45720" rtlCol="0" anchor="ctr">
            <a:normAutofit/>
          </a:bodyPr>
          <a:lstStyle/>
          <a:p>
            <a:r>
              <a:rPr lang="en-GB" dirty="0"/>
              <a:t>Vulnerabilities &amp; Qualifying Criteria</a:t>
            </a:r>
          </a:p>
        </p:txBody>
      </p:sp>
      <p:sp>
        <p:nvSpPr>
          <p:cNvPr id="8" name="TextBox 7">
            <a:extLst>
              <a:ext uri="{FF2B5EF4-FFF2-40B4-BE49-F238E27FC236}">
                <a16:creationId xmlns:a16="http://schemas.microsoft.com/office/drawing/2014/main" id="{BFE4CF96-7FE7-AC48-8A0A-CE8A0BFAC7CC}"/>
              </a:ext>
            </a:extLst>
          </p:cNvPr>
          <p:cNvSpPr txBox="1"/>
          <p:nvPr/>
        </p:nvSpPr>
        <p:spPr>
          <a:xfrm>
            <a:off x="388621" y="1625011"/>
            <a:ext cx="11573302" cy="5078313"/>
          </a:xfrm>
          <a:prstGeom prst="rect">
            <a:avLst/>
          </a:prstGeom>
          <a:noFill/>
          <a:ln w="3175">
            <a:noFill/>
          </a:ln>
        </p:spPr>
        <p:txBody>
          <a:bodyPr wrap="square" lIns="91440" tIns="45720" rIns="91440" bIns="45720" rtlCol="0" anchor="t">
            <a:spAutoFit/>
          </a:bodyPr>
          <a:lstStyle>
            <a:defPPr>
              <a:defRPr kern="0"/>
            </a:defPPr>
            <a:lvl1pPr algn="l">
              <a:defRPr b="1">
                <a:solidFill>
                  <a:schemeClr val="tx1"/>
                </a:solidFill>
              </a:defRPr>
            </a:lvl1pPr>
          </a:lstStyle>
          <a:p>
            <a:pPr marL="285750" indent="-285750">
              <a:buFont typeface="Arial" panose="020B0604020202020204" pitchFamily="34" charset="0"/>
              <a:buChar char="•"/>
            </a:pPr>
            <a:r>
              <a:rPr lang="en-GB" b="0" dirty="0"/>
              <a:t>60% (1,050 individuals) meet the three main criteria: known to social care, substance use, and mental health</a:t>
            </a:r>
          </a:p>
          <a:p>
            <a:pPr marL="285750" indent="-285750">
              <a:buFont typeface="Arial" panose="020B0604020202020204" pitchFamily="34" charset="0"/>
              <a:buChar char="•"/>
            </a:pPr>
            <a:r>
              <a:rPr lang="en-GB" b="0" dirty="0"/>
              <a:t>28% (496 individuals) meet the three main criteria: housing, substance use, and mental health</a:t>
            </a:r>
          </a:p>
          <a:p>
            <a:pPr marL="285750" indent="-285750">
              <a:buFont typeface="Arial" panose="020B0604020202020204" pitchFamily="34" charset="0"/>
              <a:buChar char="•"/>
            </a:pPr>
            <a:r>
              <a:rPr lang="en-GB" b="0" dirty="0"/>
              <a:t>105 individuals meet all four criteria.</a:t>
            </a:r>
          </a:p>
          <a:p>
            <a:endParaRPr lang="en-GB" dirty="0"/>
          </a:p>
          <a:p>
            <a:r>
              <a:rPr lang="en-GB" dirty="0"/>
              <a:t>Alcohol &amp; substance use:</a:t>
            </a:r>
            <a:br>
              <a:rPr lang="en-GB" dirty="0"/>
            </a:br>
            <a:endParaRPr lang="en-GB" dirty="0"/>
          </a:p>
          <a:p>
            <a:pPr marL="285750" lvl="1" indent="-285750">
              <a:buFont typeface="Arial" panose="020B0604020202020204" pitchFamily="34" charset="0"/>
              <a:buChar char="•"/>
            </a:pPr>
            <a:r>
              <a:rPr lang="en-GB" dirty="0">
                <a:solidFill>
                  <a:schemeClr val="tx1"/>
                </a:solidFill>
              </a:rPr>
              <a:t>75% have an alcohol dependency, of these:</a:t>
            </a:r>
            <a:br>
              <a:rPr lang="en-GB" dirty="0">
                <a:solidFill>
                  <a:schemeClr val="tx1"/>
                </a:solidFill>
              </a:rPr>
            </a:br>
            <a:endParaRPr lang="en-GB" dirty="0">
              <a:solidFill>
                <a:schemeClr val="tx1"/>
              </a:solidFill>
            </a:endParaRPr>
          </a:p>
          <a:p>
            <a:pPr marL="285750" lvl="2" indent="-285750">
              <a:buFont typeface="Arial" panose="020B0604020202020204" pitchFamily="34" charset="0"/>
              <a:buChar char="•"/>
            </a:pPr>
            <a:r>
              <a:rPr lang="en-GB" dirty="0">
                <a:solidFill>
                  <a:schemeClr val="tx1"/>
                </a:solidFill>
              </a:rPr>
              <a:t>58% alcohol only</a:t>
            </a:r>
          </a:p>
          <a:p>
            <a:pPr marL="285750" lvl="2" indent="-285750">
              <a:buFont typeface="Arial" panose="020B0604020202020204" pitchFamily="34" charset="0"/>
              <a:buChar char="•"/>
            </a:pPr>
            <a:r>
              <a:rPr lang="en-GB" dirty="0">
                <a:solidFill>
                  <a:schemeClr val="tx1"/>
                </a:solidFill>
              </a:rPr>
              <a:t>17% both alcohol and other substances (mainly cocaine and opioids).</a:t>
            </a:r>
          </a:p>
          <a:p>
            <a:pPr lvl="2"/>
            <a:endParaRPr lang="en-GB" dirty="0"/>
          </a:p>
          <a:p>
            <a:r>
              <a:rPr lang="en-GB" dirty="0"/>
              <a:t>Other vulnerabilities: </a:t>
            </a:r>
          </a:p>
          <a:p>
            <a:endParaRPr lang="en-GB" dirty="0"/>
          </a:p>
          <a:p>
            <a:r>
              <a:rPr lang="en-GB" b="0" dirty="0"/>
              <a:t>housebound (7.8%), </a:t>
            </a:r>
          </a:p>
          <a:p>
            <a:r>
              <a:rPr lang="en-GB" b="0" dirty="0"/>
              <a:t>homeless (5.9%), </a:t>
            </a:r>
          </a:p>
          <a:p>
            <a:r>
              <a:rPr lang="en-GB" b="0" dirty="0"/>
              <a:t>learning disability (4.5%), </a:t>
            </a:r>
          </a:p>
          <a:p>
            <a:r>
              <a:rPr lang="en-GB" b="0" dirty="0"/>
              <a:t>ADHD (5.5%).</a:t>
            </a:r>
          </a:p>
          <a:p>
            <a:r>
              <a:rPr lang="en-GB" b="0" dirty="0"/>
              <a:t>Smoking: 4 times more likely than the general population.</a:t>
            </a:r>
          </a:p>
        </p:txBody>
      </p:sp>
    </p:spTree>
    <p:extLst>
      <p:ext uri="{BB962C8B-B14F-4D97-AF65-F5344CB8AC3E}">
        <p14:creationId xmlns:p14="http://schemas.microsoft.com/office/powerpoint/2010/main" val="666347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96CD6-ECE8-4B84-66AC-7EEF27080C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394D6-2031-E958-3C43-06E39A53FE4B}"/>
              </a:ext>
            </a:extLst>
          </p:cNvPr>
          <p:cNvSpPr>
            <a:spLocks noGrp="1"/>
          </p:cNvSpPr>
          <p:nvPr>
            <p:ph type="title"/>
          </p:nvPr>
        </p:nvSpPr>
        <p:spPr>
          <a:xfrm>
            <a:off x="230076" y="84724"/>
            <a:ext cx="11731847" cy="1540287"/>
          </a:xfrm>
        </p:spPr>
        <p:txBody>
          <a:bodyPr vert="horz" lIns="91440" tIns="45720" rIns="91440" bIns="45720" rtlCol="0" anchor="ctr">
            <a:normAutofit fontScale="90000"/>
          </a:bodyPr>
          <a:lstStyle/>
          <a:p>
            <a:r>
              <a:rPr lang="en-GB" b="0" dirty="0"/>
              <a:t>Prevalence of asylum seekers/refugees is 7 times higher in the multiple disadvantage cohort.</a:t>
            </a:r>
            <a:endParaRPr lang="en-GB" dirty="0"/>
          </a:p>
        </p:txBody>
      </p:sp>
      <p:pic>
        <p:nvPicPr>
          <p:cNvPr id="4" name="Picture 3">
            <a:extLst>
              <a:ext uri="{FF2B5EF4-FFF2-40B4-BE49-F238E27FC236}">
                <a16:creationId xmlns:a16="http://schemas.microsoft.com/office/drawing/2014/main" id="{AF1EC16D-820A-01A6-B67A-1E1ED4926C1A}"/>
              </a:ext>
            </a:extLst>
          </p:cNvPr>
          <p:cNvPicPr>
            <a:picLocks noChangeAspect="1"/>
          </p:cNvPicPr>
          <p:nvPr/>
        </p:nvPicPr>
        <p:blipFill>
          <a:blip r:embed="rId3"/>
          <a:stretch>
            <a:fillRect/>
          </a:stretch>
        </p:blipFill>
        <p:spPr>
          <a:xfrm>
            <a:off x="1604351" y="2077557"/>
            <a:ext cx="7425349" cy="4573174"/>
          </a:xfrm>
          <a:prstGeom prst="rect">
            <a:avLst/>
          </a:prstGeom>
        </p:spPr>
      </p:pic>
    </p:spTree>
    <p:extLst>
      <p:ext uri="{BB962C8B-B14F-4D97-AF65-F5344CB8AC3E}">
        <p14:creationId xmlns:p14="http://schemas.microsoft.com/office/powerpoint/2010/main" val="176227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DC60C-3C69-06A7-FF91-FEC605864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B80C03-B0F0-B7A2-9300-AA5EBABF0691}"/>
              </a:ext>
            </a:extLst>
          </p:cNvPr>
          <p:cNvSpPr>
            <a:spLocks noGrp="1"/>
          </p:cNvSpPr>
          <p:nvPr>
            <p:ph type="title"/>
          </p:nvPr>
        </p:nvSpPr>
        <p:spPr>
          <a:xfrm>
            <a:off x="230076" y="84724"/>
            <a:ext cx="11731847" cy="1540287"/>
          </a:xfrm>
        </p:spPr>
        <p:txBody>
          <a:bodyPr vert="horz" lIns="91440" tIns="45720" rIns="91440" bIns="45720" rtlCol="0" anchor="ctr">
            <a:normAutofit/>
          </a:bodyPr>
          <a:lstStyle/>
          <a:p>
            <a:r>
              <a:rPr lang="en-GB" dirty="0"/>
              <a:t>Health Complexity &amp; Care Needs</a:t>
            </a:r>
          </a:p>
        </p:txBody>
      </p:sp>
      <p:sp>
        <p:nvSpPr>
          <p:cNvPr id="8" name="TextBox 7">
            <a:extLst>
              <a:ext uri="{FF2B5EF4-FFF2-40B4-BE49-F238E27FC236}">
                <a16:creationId xmlns:a16="http://schemas.microsoft.com/office/drawing/2014/main" id="{B13E7D0D-489C-9AE9-8808-AE6A37D4AEEA}"/>
              </a:ext>
            </a:extLst>
          </p:cNvPr>
          <p:cNvSpPr txBox="1"/>
          <p:nvPr/>
        </p:nvSpPr>
        <p:spPr>
          <a:xfrm>
            <a:off x="388621" y="1625011"/>
            <a:ext cx="4446269" cy="4739759"/>
          </a:xfrm>
          <a:prstGeom prst="rect">
            <a:avLst/>
          </a:prstGeom>
          <a:noFill/>
          <a:ln w="3175">
            <a:noFill/>
          </a:ln>
        </p:spPr>
        <p:txBody>
          <a:bodyPr wrap="square" lIns="91440" tIns="45720" rIns="91440" bIns="45720" rtlCol="0" anchor="t">
            <a:spAutoFit/>
          </a:bodyPr>
          <a:lstStyle>
            <a:defPPr>
              <a:defRPr kern="0"/>
            </a:defPPr>
            <a:lvl1pPr algn="l">
              <a:defRPr b="1">
                <a:solidFill>
                  <a:schemeClr val="tx1"/>
                </a:solidFill>
              </a:defRPr>
            </a:lvl1pPr>
          </a:lstStyle>
          <a:p>
            <a:pPr marL="285750" lvl="0" indent="-285750">
              <a:buFont typeface="Arial" panose="020B0604020202020204" pitchFamily="34" charset="0"/>
              <a:buChar char="•"/>
            </a:pPr>
            <a:r>
              <a:rPr lang="en-GB" b="0" dirty="0"/>
              <a:t>68% are in CMS segments 4 &amp; 5, indicating complex health needs.</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Mental health support: 80% of the MD cohort with mental health are supported with their mental health in primary care, </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Over half those are in ‘escalating’ or ‘fallen through the gaps’ categories, indicating a greater need for                                                                support.  </a:t>
            </a:r>
            <a:r>
              <a:rPr lang="en-GB" sz="1400" b="0" i="1" dirty="0"/>
              <a:t>(Community MINT teams were not fully operational at the time of data collection)</a:t>
            </a:r>
            <a:r>
              <a:rPr lang="en-GB" sz="1400" b="0" dirty="0"/>
              <a:t>.</a:t>
            </a:r>
            <a:endParaRPr lang="en-GB" b="0" dirty="0"/>
          </a:p>
          <a:p>
            <a:pPr marL="285750" lvl="7" indent="-285750">
              <a:buFont typeface="Courier New" panose="02070309020205020404" pitchFamily="49" charset="0"/>
              <a:buChar char="o"/>
            </a:pPr>
            <a:endParaRPr lang="en-GB" b="0" dirty="0"/>
          </a:p>
          <a:p>
            <a:pPr marL="285750" indent="-285750">
              <a:buFont typeface="Arial" panose="020B0604020202020204" pitchFamily="34" charset="0"/>
              <a:buChar char="•"/>
            </a:pPr>
            <a:r>
              <a:rPr lang="en-GB" b="0" dirty="0"/>
              <a:t>Most mental health attributes are more prevalent in the MD cohort compared to the rest of BNSSG</a:t>
            </a:r>
          </a:p>
        </p:txBody>
      </p:sp>
      <p:pic>
        <p:nvPicPr>
          <p:cNvPr id="4" name="Picture 3">
            <a:extLst>
              <a:ext uri="{FF2B5EF4-FFF2-40B4-BE49-F238E27FC236}">
                <a16:creationId xmlns:a16="http://schemas.microsoft.com/office/drawing/2014/main" id="{6609CDCB-F73A-A4E5-B041-F96E03A698E8}"/>
              </a:ext>
            </a:extLst>
          </p:cNvPr>
          <p:cNvPicPr>
            <a:picLocks noChangeAspect="1"/>
          </p:cNvPicPr>
          <p:nvPr/>
        </p:nvPicPr>
        <p:blipFill>
          <a:blip r:embed="rId3"/>
          <a:stretch>
            <a:fillRect/>
          </a:stretch>
        </p:blipFill>
        <p:spPr>
          <a:xfrm>
            <a:off x="5055667" y="2068830"/>
            <a:ext cx="7168652" cy="4286099"/>
          </a:xfrm>
          <a:prstGeom prst="rect">
            <a:avLst/>
          </a:prstGeom>
        </p:spPr>
      </p:pic>
    </p:spTree>
    <p:extLst>
      <p:ext uri="{BB962C8B-B14F-4D97-AF65-F5344CB8AC3E}">
        <p14:creationId xmlns:p14="http://schemas.microsoft.com/office/powerpoint/2010/main" val="2491756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5A7A9-5CA3-1D3E-6D02-F944958D0C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60706-767E-D2C7-8F0B-06C248F3726D}"/>
              </a:ext>
            </a:extLst>
          </p:cNvPr>
          <p:cNvSpPr>
            <a:spLocks noGrp="1"/>
          </p:cNvSpPr>
          <p:nvPr>
            <p:ph type="title"/>
          </p:nvPr>
        </p:nvSpPr>
        <p:spPr>
          <a:xfrm>
            <a:off x="230076" y="84724"/>
            <a:ext cx="11731847" cy="1540287"/>
          </a:xfrm>
        </p:spPr>
        <p:txBody>
          <a:bodyPr vert="horz" lIns="91440" tIns="45720" rIns="91440" bIns="45720" rtlCol="0" anchor="ctr">
            <a:normAutofit/>
          </a:bodyPr>
          <a:lstStyle/>
          <a:p>
            <a:r>
              <a:rPr lang="en-GB" dirty="0"/>
              <a:t>5 times more likely to have &gt;10 repeat prescriptions</a:t>
            </a:r>
          </a:p>
        </p:txBody>
      </p:sp>
      <p:pic>
        <p:nvPicPr>
          <p:cNvPr id="5" name="Picture 4">
            <a:extLst>
              <a:ext uri="{FF2B5EF4-FFF2-40B4-BE49-F238E27FC236}">
                <a16:creationId xmlns:a16="http://schemas.microsoft.com/office/drawing/2014/main" id="{E03AF6A9-AEFD-9F09-D3BE-4B9784B08720}"/>
              </a:ext>
            </a:extLst>
          </p:cNvPr>
          <p:cNvPicPr>
            <a:picLocks noChangeAspect="1"/>
          </p:cNvPicPr>
          <p:nvPr/>
        </p:nvPicPr>
        <p:blipFill>
          <a:blip r:embed="rId3"/>
          <a:stretch>
            <a:fillRect/>
          </a:stretch>
        </p:blipFill>
        <p:spPr>
          <a:xfrm>
            <a:off x="375284" y="2125165"/>
            <a:ext cx="7945756" cy="4648111"/>
          </a:xfrm>
          <a:prstGeom prst="rect">
            <a:avLst/>
          </a:prstGeom>
        </p:spPr>
      </p:pic>
      <p:sp>
        <p:nvSpPr>
          <p:cNvPr id="7" name="TextBox 6">
            <a:extLst>
              <a:ext uri="{FF2B5EF4-FFF2-40B4-BE49-F238E27FC236}">
                <a16:creationId xmlns:a16="http://schemas.microsoft.com/office/drawing/2014/main" id="{B24CDE80-C121-77C6-7836-4C23D7187AA7}"/>
              </a:ext>
            </a:extLst>
          </p:cNvPr>
          <p:cNvSpPr txBox="1"/>
          <p:nvPr/>
        </p:nvSpPr>
        <p:spPr>
          <a:xfrm>
            <a:off x="8958691" y="2882964"/>
            <a:ext cx="3003232" cy="2063065"/>
          </a:xfrm>
          <a:prstGeom prst="rect">
            <a:avLst/>
          </a:prstGeom>
          <a:noFill/>
        </p:spPr>
        <p:txBody>
          <a:bodyPr wrap="square">
            <a:spAutoFit/>
          </a:bodyPr>
          <a:lstStyle/>
          <a:p>
            <a:pPr lvl="0">
              <a:lnSpc>
                <a:spcPct val="107000"/>
              </a:lnSpc>
              <a:spcAft>
                <a:spcPts val="800"/>
              </a:spcAft>
              <a:buSzPts val="1000"/>
              <a:tabLst>
                <a:tab pos="457200" algn="l"/>
              </a:tabLst>
            </a:pPr>
            <a:r>
              <a:rPr lang="en-GB" sz="1800" b="1" kern="100" dirty="0">
                <a:solidFill>
                  <a:schemeClr val="accent1"/>
                </a:solidFill>
                <a:effectLst/>
                <a:latin typeface="Arial" panose="020B0604020202020204" pitchFamily="34" charset="0"/>
                <a:ea typeface="Aptos" panose="020B0004020202020204" pitchFamily="34" charset="0"/>
                <a:cs typeface="Times New Roman" panose="02020603050405020304" pitchFamily="18" charset="0"/>
              </a:rPr>
              <a:t>Average cost per person: </a:t>
            </a:r>
          </a:p>
          <a:p>
            <a:pPr lvl="0">
              <a:lnSpc>
                <a:spcPct val="107000"/>
              </a:lnSpc>
              <a:spcAft>
                <a:spcPts val="800"/>
              </a:spcAft>
              <a:buSzPts val="1000"/>
              <a:tabLst>
                <a:tab pos="457200" algn="l"/>
              </a:tabLst>
            </a:pPr>
            <a:endParaRPr lang="en-GB" b="1" kern="100" dirty="0">
              <a:solidFill>
                <a:schemeClr val="accent1"/>
              </a:solidFill>
              <a:latin typeface="Arial" panose="020B0604020202020204" pitchFamily="34" charset="0"/>
              <a:ea typeface="Aptos" panose="020B0004020202020204" pitchFamily="34" charset="0"/>
              <a:cs typeface="Times New Roman" panose="02020603050405020304" pitchFamily="18" charset="0"/>
            </a:endParaRPr>
          </a:p>
          <a:p>
            <a:pPr lvl="0">
              <a:lnSpc>
                <a:spcPct val="107000"/>
              </a:lnSpc>
              <a:spcAft>
                <a:spcPts val="800"/>
              </a:spcAft>
              <a:buSzPts val="1000"/>
              <a:tabLst>
                <a:tab pos="457200" algn="l"/>
              </a:tabLst>
            </a:pPr>
            <a:r>
              <a:rPr lang="en-GB" sz="1800" b="1" kern="100" dirty="0">
                <a:solidFill>
                  <a:schemeClr val="accent1"/>
                </a:solidFill>
                <a:effectLst/>
                <a:latin typeface="Arial" panose="020B0604020202020204" pitchFamily="34" charset="0"/>
                <a:ea typeface="Aptos" panose="020B0004020202020204" pitchFamily="34" charset="0"/>
                <a:cs typeface="Times New Roman" panose="02020603050405020304" pitchFamily="18" charset="0"/>
              </a:rPr>
              <a:t>£829/year</a:t>
            </a:r>
            <a:r>
              <a:rPr lang="en-GB" sz="1800" kern="100" dirty="0">
                <a:solidFill>
                  <a:schemeClr val="accent1"/>
                </a:solidFill>
                <a:effectLst/>
                <a:latin typeface="Arial" panose="020B0604020202020204" pitchFamily="34" charset="0"/>
                <a:ea typeface="Aptos" panose="020B0004020202020204" pitchFamily="34" charset="0"/>
                <a:cs typeface="Times New Roman" panose="02020603050405020304" pitchFamily="18" charset="0"/>
              </a:rPr>
              <a:t> (2.4 times higher than the general population), despite lower per-prescription costs.</a:t>
            </a:r>
            <a:endParaRPr lang="en-GB" sz="1600" kern="100" dirty="0">
              <a:solidFill>
                <a:schemeClr val="accent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340969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BA0B4-279A-0AF9-CCF9-FB433E20C5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81985-C3F4-510E-086B-DFAD9572F02C}"/>
              </a:ext>
            </a:extLst>
          </p:cNvPr>
          <p:cNvSpPr>
            <a:spLocks noGrp="1"/>
          </p:cNvSpPr>
          <p:nvPr>
            <p:ph type="title"/>
          </p:nvPr>
        </p:nvSpPr>
        <p:spPr>
          <a:xfrm>
            <a:off x="230076" y="84724"/>
            <a:ext cx="11731847" cy="1540287"/>
          </a:xfrm>
        </p:spPr>
        <p:txBody>
          <a:bodyPr vert="horz" lIns="91440" tIns="45720" rIns="91440" bIns="45720" rtlCol="0" anchor="ctr">
            <a:normAutofit/>
          </a:bodyPr>
          <a:lstStyle/>
          <a:p>
            <a:r>
              <a:rPr lang="en-GB" dirty="0"/>
              <a:t>Emergency and urgent care usage</a:t>
            </a:r>
          </a:p>
        </p:txBody>
      </p:sp>
      <p:sp>
        <p:nvSpPr>
          <p:cNvPr id="8" name="TextBox 7">
            <a:extLst>
              <a:ext uri="{FF2B5EF4-FFF2-40B4-BE49-F238E27FC236}">
                <a16:creationId xmlns:a16="http://schemas.microsoft.com/office/drawing/2014/main" id="{A5B67021-5F17-2040-9681-C729445E0420}"/>
              </a:ext>
            </a:extLst>
          </p:cNvPr>
          <p:cNvSpPr txBox="1"/>
          <p:nvPr/>
        </p:nvSpPr>
        <p:spPr>
          <a:xfrm>
            <a:off x="388621" y="1625011"/>
            <a:ext cx="4446269" cy="3847207"/>
          </a:xfrm>
          <a:prstGeom prst="rect">
            <a:avLst/>
          </a:prstGeom>
          <a:noFill/>
          <a:ln w="3175">
            <a:noFill/>
          </a:ln>
        </p:spPr>
        <p:txBody>
          <a:bodyPr wrap="square" lIns="91440" tIns="45720" rIns="91440" bIns="45720" rtlCol="0" anchor="t">
            <a:spAutoFit/>
          </a:bodyPr>
          <a:lstStyle>
            <a:defPPr>
              <a:defRPr kern="0"/>
            </a:defPPr>
            <a:lvl1pPr algn="l">
              <a:defRPr b="1">
                <a:solidFill>
                  <a:schemeClr val="tx1"/>
                </a:solidFill>
              </a:defRPr>
            </a:lvl1pPr>
          </a:lstStyle>
          <a:p>
            <a:pPr marL="285750" lvl="1" indent="-285750">
              <a:buFont typeface="Arial" panose="020B0604020202020204" pitchFamily="34" charset="0"/>
              <a:buChar char="•"/>
            </a:pPr>
            <a:r>
              <a:rPr lang="en-GB" sz="1800" dirty="0">
                <a:solidFill>
                  <a:schemeClr val="accent1"/>
                </a:solidFill>
              </a:rPr>
              <a:t>999 calls: 26.6 times higher</a:t>
            </a:r>
          </a:p>
          <a:p>
            <a:pPr marL="285750" lvl="1" indent="-285750">
              <a:buFont typeface="Arial" panose="020B0604020202020204" pitchFamily="34" charset="0"/>
              <a:buChar char="•"/>
            </a:pPr>
            <a:endParaRPr lang="en-GB" sz="1600" dirty="0">
              <a:solidFill>
                <a:schemeClr val="accent1"/>
              </a:solidFill>
            </a:endParaRPr>
          </a:p>
          <a:p>
            <a:pPr marL="285750" lvl="1" indent="-285750">
              <a:buFont typeface="Arial" panose="020B0604020202020204" pitchFamily="34" charset="0"/>
              <a:buChar char="•"/>
            </a:pPr>
            <a:r>
              <a:rPr lang="en-GB" sz="1800" dirty="0">
                <a:solidFill>
                  <a:schemeClr val="accent1"/>
                </a:solidFill>
              </a:rPr>
              <a:t>111 calls: 8.6 times higher</a:t>
            </a:r>
          </a:p>
          <a:p>
            <a:pPr marL="285750" lvl="1" indent="-285750">
              <a:buFont typeface="Arial" panose="020B0604020202020204" pitchFamily="34" charset="0"/>
              <a:buChar char="•"/>
            </a:pPr>
            <a:endParaRPr lang="en-GB" sz="1600" dirty="0">
              <a:solidFill>
                <a:schemeClr val="accent1"/>
              </a:solidFill>
            </a:endParaRPr>
          </a:p>
          <a:p>
            <a:pPr marL="285750" lvl="1" indent="-285750">
              <a:buFont typeface="Arial" panose="020B0604020202020204" pitchFamily="34" charset="0"/>
              <a:buChar char="•"/>
            </a:pPr>
            <a:r>
              <a:rPr lang="en-GB" sz="1800" dirty="0">
                <a:solidFill>
                  <a:schemeClr val="accent1"/>
                </a:solidFill>
              </a:rPr>
              <a:t>A&amp;E attendances: 7.9 times higher</a:t>
            </a:r>
          </a:p>
          <a:p>
            <a:pPr marL="285750" lvl="1" indent="-285750">
              <a:buFont typeface="Arial" panose="020B0604020202020204" pitchFamily="34" charset="0"/>
              <a:buChar char="•"/>
            </a:pPr>
            <a:endParaRPr lang="en-GB" sz="1600" dirty="0">
              <a:solidFill>
                <a:schemeClr val="accent1"/>
              </a:solidFill>
            </a:endParaRPr>
          </a:p>
          <a:p>
            <a:pPr marL="285750" lvl="1" indent="-285750">
              <a:buFont typeface="Arial" panose="020B0604020202020204" pitchFamily="34" charset="0"/>
              <a:buChar char="•"/>
            </a:pPr>
            <a:r>
              <a:rPr lang="en-GB" sz="1800" dirty="0">
                <a:solidFill>
                  <a:schemeClr val="accent1"/>
                </a:solidFill>
              </a:rPr>
              <a:t>Non-elective admissions: 10 times higher, with costs 13 times higher (£2,471per admission v £1,889).</a:t>
            </a:r>
          </a:p>
          <a:p>
            <a:pPr lvl="1"/>
            <a:endParaRPr lang="en-GB" sz="1600" dirty="0">
              <a:solidFill>
                <a:schemeClr val="accent1"/>
              </a:solidFill>
            </a:endParaRPr>
          </a:p>
          <a:p>
            <a:pPr lvl="0"/>
            <a:r>
              <a:rPr lang="en-GB" b="0" dirty="0">
                <a:solidFill>
                  <a:schemeClr val="accent1"/>
                </a:solidFill>
              </a:rPr>
              <a:t>Frequent service users (~50% of cohort) contribute 87–90% of cohort activity, compared to 27–42% in the rest of BNSSG.</a:t>
            </a:r>
            <a:endParaRPr lang="en-GB" sz="1600" b="0" dirty="0">
              <a:solidFill>
                <a:schemeClr val="accent1"/>
              </a:solidFill>
            </a:endParaRPr>
          </a:p>
        </p:txBody>
      </p:sp>
      <p:pic>
        <p:nvPicPr>
          <p:cNvPr id="5" name="Picture 4">
            <a:extLst>
              <a:ext uri="{FF2B5EF4-FFF2-40B4-BE49-F238E27FC236}">
                <a16:creationId xmlns:a16="http://schemas.microsoft.com/office/drawing/2014/main" id="{F72613A1-F070-1E38-419E-93D0C9627694}"/>
              </a:ext>
            </a:extLst>
          </p:cNvPr>
          <p:cNvPicPr>
            <a:picLocks noChangeAspect="1"/>
          </p:cNvPicPr>
          <p:nvPr/>
        </p:nvPicPr>
        <p:blipFill>
          <a:blip r:embed="rId3"/>
          <a:stretch>
            <a:fillRect/>
          </a:stretch>
        </p:blipFill>
        <p:spPr>
          <a:xfrm>
            <a:off x="4800609" y="2186726"/>
            <a:ext cx="7161314" cy="4178044"/>
          </a:xfrm>
          <a:prstGeom prst="rect">
            <a:avLst/>
          </a:prstGeom>
        </p:spPr>
      </p:pic>
    </p:spTree>
    <p:extLst>
      <p:ext uri="{BB962C8B-B14F-4D97-AF65-F5344CB8AC3E}">
        <p14:creationId xmlns:p14="http://schemas.microsoft.com/office/powerpoint/2010/main" val="381088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FC7B9-7AD5-6AAB-8E2E-A4C9C8783A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342CB-E54E-F6CC-2CE6-EBA27613D2E3}"/>
              </a:ext>
            </a:extLst>
          </p:cNvPr>
          <p:cNvSpPr>
            <a:spLocks noGrp="1"/>
          </p:cNvSpPr>
          <p:nvPr>
            <p:ph type="title"/>
          </p:nvPr>
        </p:nvSpPr>
        <p:spPr>
          <a:xfrm>
            <a:off x="230076" y="84724"/>
            <a:ext cx="11731847" cy="1540287"/>
          </a:xfrm>
        </p:spPr>
        <p:txBody>
          <a:bodyPr vert="horz" lIns="91440" tIns="45720" rIns="91440" bIns="45720" rtlCol="0" anchor="ctr">
            <a:normAutofit/>
          </a:bodyPr>
          <a:lstStyle/>
          <a:p>
            <a:r>
              <a:rPr lang="en-GB" dirty="0"/>
              <a:t>DNA’s are disproportionately high relative to the cohort size of 0.2% of BNSSG.</a:t>
            </a:r>
          </a:p>
        </p:txBody>
      </p:sp>
      <p:sp>
        <p:nvSpPr>
          <p:cNvPr id="8" name="TextBox 7">
            <a:extLst>
              <a:ext uri="{FF2B5EF4-FFF2-40B4-BE49-F238E27FC236}">
                <a16:creationId xmlns:a16="http://schemas.microsoft.com/office/drawing/2014/main" id="{A2FA8ABD-8CB5-A81B-A655-C67C7815B54F}"/>
              </a:ext>
            </a:extLst>
          </p:cNvPr>
          <p:cNvSpPr txBox="1"/>
          <p:nvPr/>
        </p:nvSpPr>
        <p:spPr>
          <a:xfrm>
            <a:off x="230076" y="2093641"/>
            <a:ext cx="5234939" cy="4247317"/>
          </a:xfrm>
          <a:prstGeom prst="rect">
            <a:avLst/>
          </a:prstGeom>
          <a:noFill/>
          <a:ln w="3175">
            <a:noFill/>
          </a:ln>
        </p:spPr>
        <p:txBody>
          <a:bodyPr wrap="square" lIns="91440" tIns="45720" rIns="91440" bIns="45720" rtlCol="0" anchor="t">
            <a:spAutoFit/>
          </a:bodyPr>
          <a:lstStyle>
            <a:defPPr>
              <a:defRPr kern="0"/>
            </a:defPPr>
            <a:lvl1pPr algn="l">
              <a:defRPr b="1">
                <a:solidFill>
                  <a:schemeClr val="tx1"/>
                </a:solidFill>
              </a:defRPr>
            </a:lvl1pPr>
          </a:lstStyle>
          <a:p>
            <a:r>
              <a:rPr lang="en-GB" dirty="0"/>
              <a:t>Did Not Attend (DNA) Patterns:</a:t>
            </a:r>
          </a:p>
          <a:p>
            <a:endParaRPr lang="en-GB" dirty="0"/>
          </a:p>
          <a:p>
            <a:pPr marL="285750" indent="-285750">
              <a:buFont typeface="Arial" panose="020B0604020202020204" pitchFamily="34" charset="0"/>
              <a:buChar char="•"/>
            </a:pPr>
            <a:r>
              <a:rPr lang="en-GB" dirty="0"/>
              <a:t>Outpatients: 20% cohort v 7% BNSSG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Other primary care: 4 times higher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DNA rates are 1.1 to 2.5 times higher across most mental health segments, except ‘Previous Mental Health’ (6.5 times higher).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‘GP and other primary care appointments’ show the most difference between the MD cohort and rest of BNSSG.</a:t>
            </a:r>
          </a:p>
          <a:p>
            <a:pPr marL="285750" indent="-285750">
              <a:buFont typeface="Arial" panose="020B0604020202020204" pitchFamily="34" charset="0"/>
              <a:buChar char="•"/>
            </a:pPr>
            <a:endParaRPr lang="en-GB" dirty="0"/>
          </a:p>
        </p:txBody>
      </p:sp>
      <p:pic>
        <p:nvPicPr>
          <p:cNvPr id="4" name="Picture 3">
            <a:extLst>
              <a:ext uri="{FF2B5EF4-FFF2-40B4-BE49-F238E27FC236}">
                <a16:creationId xmlns:a16="http://schemas.microsoft.com/office/drawing/2014/main" id="{AB9374F0-5BAC-15B6-E4D5-6A2BF5220CB9}"/>
              </a:ext>
            </a:extLst>
          </p:cNvPr>
          <p:cNvPicPr>
            <a:picLocks noChangeAspect="1"/>
          </p:cNvPicPr>
          <p:nvPr/>
        </p:nvPicPr>
        <p:blipFill>
          <a:blip r:embed="rId3"/>
          <a:stretch>
            <a:fillRect/>
          </a:stretch>
        </p:blipFill>
        <p:spPr>
          <a:xfrm>
            <a:off x="5341536" y="2228849"/>
            <a:ext cx="6850464" cy="3337561"/>
          </a:xfrm>
          <a:prstGeom prst="rect">
            <a:avLst/>
          </a:prstGeom>
        </p:spPr>
      </p:pic>
    </p:spTree>
    <p:extLst>
      <p:ext uri="{BB962C8B-B14F-4D97-AF65-F5344CB8AC3E}">
        <p14:creationId xmlns:p14="http://schemas.microsoft.com/office/powerpoint/2010/main" val="1088188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943E8-4D4B-2EE4-624E-A7005E4C78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ABF6-F323-F7A6-BB83-86D652465445}"/>
              </a:ext>
            </a:extLst>
          </p:cNvPr>
          <p:cNvSpPr>
            <a:spLocks noGrp="1"/>
          </p:cNvSpPr>
          <p:nvPr>
            <p:ph type="title"/>
          </p:nvPr>
        </p:nvSpPr>
        <p:spPr>
          <a:xfrm>
            <a:off x="230076" y="84724"/>
            <a:ext cx="11731847" cy="1540287"/>
          </a:xfrm>
        </p:spPr>
        <p:txBody>
          <a:bodyPr vert="horz" lIns="91440" tIns="45720" rIns="91440" bIns="45720" rtlCol="0" anchor="ctr">
            <a:normAutofit/>
          </a:bodyPr>
          <a:lstStyle/>
          <a:p>
            <a:r>
              <a:rPr lang="en-GB" dirty="0"/>
              <a:t>Key Insights</a:t>
            </a:r>
          </a:p>
        </p:txBody>
      </p:sp>
      <p:sp>
        <p:nvSpPr>
          <p:cNvPr id="8" name="TextBox 7">
            <a:extLst>
              <a:ext uri="{FF2B5EF4-FFF2-40B4-BE49-F238E27FC236}">
                <a16:creationId xmlns:a16="http://schemas.microsoft.com/office/drawing/2014/main" id="{BBD03F46-4A70-197A-9356-661DD0407541}"/>
              </a:ext>
            </a:extLst>
          </p:cNvPr>
          <p:cNvSpPr txBox="1"/>
          <p:nvPr/>
        </p:nvSpPr>
        <p:spPr>
          <a:xfrm>
            <a:off x="388621" y="1625011"/>
            <a:ext cx="11573302" cy="2862322"/>
          </a:xfrm>
          <a:prstGeom prst="rect">
            <a:avLst/>
          </a:prstGeom>
          <a:noFill/>
          <a:ln w="3175">
            <a:noFill/>
          </a:ln>
        </p:spPr>
        <p:txBody>
          <a:bodyPr wrap="square" lIns="91440" tIns="45720" rIns="91440" bIns="45720" rtlCol="0" anchor="t">
            <a:spAutoFit/>
          </a:bodyPr>
          <a:lstStyle>
            <a:defPPr>
              <a:defRPr kern="0"/>
            </a:defPPr>
            <a:lvl1pPr algn="l">
              <a:defRPr b="1">
                <a:solidFill>
                  <a:schemeClr val="tx1"/>
                </a:solidFill>
              </a:defRPr>
            </a:lvl1pPr>
          </a:lstStyle>
          <a:p>
            <a:pPr marL="285750" lvl="0" indent="-285750">
              <a:buFont typeface="Arial" panose="020B0604020202020204" pitchFamily="34" charset="0"/>
              <a:buChar char="•"/>
            </a:pPr>
            <a:r>
              <a:rPr lang="en-GB" b="0" dirty="0"/>
              <a:t>Small but highly complex and vulnerable cohort.</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Higher use of Urgent care and primary care services.</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High mental health and substance use needs, with large proportion having escalating needs or falling through the gaps (as at Apr 2024 prior to MINT teams).</a:t>
            </a:r>
          </a:p>
          <a:p>
            <a:pPr marL="285750" lvl="0" indent="-285750">
              <a:buFont typeface="Arial" panose="020B0604020202020204" pitchFamily="34" charset="0"/>
              <a:buChar char="•"/>
            </a:pPr>
            <a:endParaRPr lang="en-GB" b="0" dirty="0"/>
          </a:p>
          <a:p>
            <a:pPr marL="285750" lvl="0" indent="-285750">
              <a:buFont typeface="Arial" panose="020B0604020202020204" pitchFamily="34" charset="0"/>
              <a:buChar char="•"/>
            </a:pPr>
            <a:r>
              <a:rPr lang="en-GB" b="0" dirty="0"/>
              <a:t>Significant prescription volume and associated costs.</a:t>
            </a:r>
          </a:p>
          <a:p>
            <a:pPr marL="285750" lvl="0" indent="-285750">
              <a:buFont typeface="Arial" panose="020B0604020202020204" pitchFamily="34" charset="0"/>
              <a:buChar char="•"/>
            </a:pPr>
            <a:endParaRPr lang="en-GB" b="0" dirty="0"/>
          </a:p>
          <a:p>
            <a:pPr marL="285750" indent="-285750">
              <a:buFont typeface="Arial" panose="020B0604020202020204" pitchFamily="34" charset="0"/>
              <a:buChar char="•"/>
            </a:pPr>
            <a:r>
              <a:rPr lang="en-GB" b="0" dirty="0"/>
              <a:t>Key links to social deprivation, homelessness, and other vulnerabilities</a:t>
            </a:r>
          </a:p>
        </p:txBody>
      </p:sp>
    </p:spTree>
    <p:extLst>
      <p:ext uri="{BB962C8B-B14F-4D97-AF65-F5344CB8AC3E}">
        <p14:creationId xmlns:p14="http://schemas.microsoft.com/office/powerpoint/2010/main" val="3695985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9770A0-F40B-259D-358E-6FBFC14EAAD9}"/>
              </a:ext>
            </a:extLst>
          </p:cNvPr>
          <p:cNvSpPr>
            <a:spLocks noGrp="1"/>
          </p:cNvSpPr>
          <p:nvPr>
            <p:ph type="body" sz="quarter" idx="10"/>
          </p:nvPr>
        </p:nvSpPr>
        <p:spPr>
          <a:xfrm>
            <a:off x="749578" y="4280571"/>
            <a:ext cx="5327709" cy="1370215"/>
          </a:xfrm>
        </p:spPr>
        <p:txBody>
          <a:bodyPr>
            <a:normAutofit/>
          </a:bodyPr>
          <a:lstStyle/>
          <a:p>
            <a:r>
              <a:rPr lang="en-US" sz="1800" dirty="0"/>
              <a:t>Contact:</a:t>
            </a:r>
          </a:p>
          <a:p>
            <a:endParaRPr lang="en-US" sz="1800" dirty="0"/>
          </a:p>
          <a:p>
            <a:r>
              <a:rPr lang="en-US" sz="1800" b="0" dirty="0"/>
              <a:t>PHM &amp; Insights Team</a:t>
            </a:r>
          </a:p>
          <a:p>
            <a:r>
              <a:rPr lang="en-US" sz="1800" dirty="0"/>
              <a:t>bnssg.phm@nhs.net</a:t>
            </a:r>
          </a:p>
        </p:txBody>
      </p:sp>
    </p:spTree>
    <p:extLst>
      <p:ext uri="{BB962C8B-B14F-4D97-AF65-F5344CB8AC3E}">
        <p14:creationId xmlns:p14="http://schemas.microsoft.com/office/powerpoint/2010/main" val="2467175703"/>
      </p:ext>
    </p:extLst>
  </p:cSld>
  <p:clrMapOvr>
    <a:masterClrMapping/>
  </p:clrMapOvr>
</p:sld>
</file>

<file path=ppt/theme/theme1.xml><?xml version="1.0" encoding="utf-8"?>
<a:theme xmlns:a="http://schemas.openxmlformats.org/drawingml/2006/main" name="Title Slides">
  <a:themeElements>
    <a:clrScheme name="Healthier Together blues">
      <a:dk1>
        <a:srgbClr val="1C1F63"/>
      </a:dk1>
      <a:lt1>
        <a:sysClr val="window" lastClr="FFFFFF"/>
      </a:lt1>
      <a:dk2>
        <a:srgbClr val="44546A"/>
      </a:dk2>
      <a:lt2>
        <a:srgbClr val="E7E6E6"/>
      </a:lt2>
      <a:accent1>
        <a:srgbClr val="1C1F63"/>
      </a:accent1>
      <a:accent2>
        <a:srgbClr val="4B51CC"/>
      </a:accent2>
      <a:accent3>
        <a:srgbClr val="878BDD"/>
      </a:accent3>
      <a:accent4>
        <a:srgbClr val="C3C5EE"/>
      </a:accent4>
      <a:accent5>
        <a:srgbClr val="7F7F7F"/>
      </a:accent5>
      <a:accent6>
        <a:srgbClr val="BFBFBF"/>
      </a:accent6>
      <a:hlink>
        <a:srgbClr val="075EDB"/>
      </a:hlink>
      <a:folHlink>
        <a:srgbClr val="8605E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End Slide">
  <a:themeElements>
    <a:clrScheme name="NHS">
      <a:dk1>
        <a:srgbClr val="1C1F62"/>
      </a:dk1>
      <a:lt1>
        <a:srgbClr val="FFFFFF"/>
      </a:lt1>
      <a:dk2>
        <a:srgbClr val="1C1F62"/>
      </a:dk2>
      <a:lt2>
        <a:srgbClr val="FFFAED"/>
      </a:lt2>
      <a:accent1>
        <a:srgbClr val="E06CFF"/>
      </a:accent1>
      <a:accent2>
        <a:srgbClr val="BEFE45"/>
      </a:accent2>
      <a:accent3>
        <a:srgbClr val="0DCFFA"/>
      </a:accent3>
      <a:accent4>
        <a:srgbClr val="8504E3"/>
      </a:accent4>
      <a:accent5>
        <a:srgbClr val="00AD5F"/>
      </a:accent5>
      <a:accent6>
        <a:srgbClr val="045EDA"/>
      </a:accent6>
      <a:hlink>
        <a:srgbClr val="1C1F62"/>
      </a:hlink>
      <a:folHlink>
        <a:srgbClr val="1C1F6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ection Slides">
  <a:themeElements>
    <a:clrScheme name="Healthier Together with ICB document">
      <a:dk1>
        <a:srgbClr val="1C1F63"/>
      </a:dk1>
      <a:lt1>
        <a:sysClr val="window" lastClr="FFFFFF"/>
      </a:lt1>
      <a:dk2>
        <a:srgbClr val="44546A"/>
      </a:dk2>
      <a:lt2>
        <a:srgbClr val="E7E6E6"/>
      </a:lt2>
      <a:accent1>
        <a:srgbClr val="1C1F63"/>
      </a:accent1>
      <a:accent2>
        <a:srgbClr val="075EDB"/>
      </a:accent2>
      <a:accent3>
        <a:srgbClr val="1C1F63"/>
      </a:accent3>
      <a:accent4>
        <a:srgbClr val="075EDB"/>
      </a:accent4>
      <a:accent5>
        <a:srgbClr val="1C1F63"/>
      </a:accent5>
      <a:accent6>
        <a:srgbClr val="075EDB"/>
      </a:accent6>
      <a:hlink>
        <a:srgbClr val="075EDB"/>
      </a:hlink>
      <a:folHlink>
        <a:srgbClr val="8605E4"/>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Body Slides">
  <a:themeElements>
    <a:clrScheme name="Healthier Together blues">
      <a:dk1>
        <a:srgbClr val="1C1F63"/>
      </a:dk1>
      <a:lt1>
        <a:sysClr val="window" lastClr="FFFFFF"/>
      </a:lt1>
      <a:dk2>
        <a:srgbClr val="44546A"/>
      </a:dk2>
      <a:lt2>
        <a:srgbClr val="E7E6E6"/>
      </a:lt2>
      <a:accent1>
        <a:srgbClr val="1C1F63"/>
      </a:accent1>
      <a:accent2>
        <a:srgbClr val="4B51CC"/>
      </a:accent2>
      <a:accent3>
        <a:srgbClr val="878BDD"/>
      </a:accent3>
      <a:accent4>
        <a:srgbClr val="C3C5EE"/>
      </a:accent4>
      <a:accent5>
        <a:srgbClr val="7F7F7F"/>
      </a:accent5>
      <a:accent6>
        <a:srgbClr val="BFBFBF"/>
      </a:accent6>
      <a:hlink>
        <a:srgbClr val="075EDB"/>
      </a:hlink>
      <a:folHlink>
        <a:srgbClr val="8605E4"/>
      </a:folHlink>
    </a:clrScheme>
    <a:fontScheme name="Custom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dirty="0" smtClean="0">
            <a:solidFill>
              <a:schemeClr val="tx1"/>
            </a:solidFill>
            <a:latin typeface="+mn-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de4587a-f391-4d89-a9e7-a8b186aaeaa5">
      <Terms xmlns="http://schemas.microsoft.com/office/infopath/2007/PartnerControls"/>
    </lcf76f155ced4ddcb4097134ff3c332f>
    <TaxCatchAll xmlns="5114d3a8-c2ed-46d5-96cc-a7e5366eb0e2"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5315D8BC7D78458C647EB7A2414B2E" ma:contentTypeVersion="15" ma:contentTypeDescription="Create a new document." ma:contentTypeScope="" ma:versionID="2a49b57a2703cde29ead70794d07aed4">
  <xsd:schema xmlns:xsd="http://www.w3.org/2001/XMLSchema" xmlns:xs="http://www.w3.org/2001/XMLSchema" xmlns:p="http://schemas.microsoft.com/office/2006/metadata/properties" xmlns:ns1="http://schemas.microsoft.com/sharepoint/v3" xmlns:ns2="7de4587a-f391-4d89-a9e7-a8b186aaeaa5" xmlns:ns3="5114d3a8-c2ed-46d5-96cc-a7e5366eb0e2" targetNamespace="http://schemas.microsoft.com/office/2006/metadata/properties" ma:root="true" ma:fieldsID="64f90fef8483ea5476cfafe4562e9faf" ns1:_="" ns2:_="" ns3:_="">
    <xsd:import namespace="http://schemas.microsoft.com/sharepoint/v3"/>
    <xsd:import namespace="7de4587a-f391-4d89-a9e7-a8b186aaeaa5"/>
    <xsd:import namespace="5114d3a8-c2ed-46d5-96cc-a7e5366eb0e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de4587a-f391-4d89-a9e7-a8b186aaea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c8d5fda-b97d-42c6-97e2-f76465e161c0"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114d3a8-c2ed-46d5-96cc-a7e5366eb0e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68a0078-ed64-4450-874d-d7ed28e791f3}" ma:internalName="TaxCatchAll" ma:showField="CatchAllData" ma:web="5114d3a8-c2ed-46d5-96cc-a7e5366eb0e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3BB7FB-BD89-47DF-9FB1-3F904DBEB2A1}">
  <ds:schemaRefs>
    <ds:schemaRef ds:uri="http://www.w3.org/XML/1998/namespace"/>
    <ds:schemaRef ds:uri="http://purl.org/dc/dcmitype/"/>
    <ds:schemaRef ds:uri="http://purl.org/dc/terms/"/>
    <ds:schemaRef ds:uri="http://schemas.microsoft.com/sharepoint/v3"/>
    <ds:schemaRef ds:uri="5114d3a8-c2ed-46d5-96cc-a7e5366eb0e2"/>
    <ds:schemaRef ds:uri="http://schemas.microsoft.com/office/2006/documentManagement/types"/>
    <ds:schemaRef ds:uri="7de4587a-f391-4d89-a9e7-a8b186aaeaa5"/>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3B5B47CC-B35C-4B2B-96E5-ADE35E9132A6}">
  <ds:schemaRefs>
    <ds:schemaRef ds:uri="http://schemas.microsoft.com/sharepoint/v3/contenttype/forms"/>
  </ds:schemaRefs>
</ds:datastoreItem>
</file>

<file path=customXml/itemProps3.xml><?xml version="1.0" encoding="utf-8"?>
<ds:datastoreItem xmlns:ds="http://schemas.openxmlformats.org/officeDocument/2006/customXml" ds:itemID="{7C7DC665-F16E-4870-B46E-20D17210BAC8}">
  <ds:schemaRefs>
    <ds:schemaRef ds:uri="5114d3a8-c2ed-46d5-96cc-a7e5366eb0e2"/>
    <ds:schemaRef ds:uri="7de4587a-f391-4d89-a9e7-a8b186aaea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37c354b2-85b0-47f5-b222-07b48d774ee3}" enabled="0" method="" siteId="{37c354b2-85b0-47f5-b222-07b48d774ee3}" removed="1"/>
</clbl:labelList>
</file>

<file path=docProps/app.xml><?xml version="1.0" encoding="utf-8"?>
<Properties xmlns="http://schemas.openxmlformats.org/officeDocument/2006/extended-properties" xmlns:vt="http://schemas.openxmlformats.org/officeDocument/2006/docPropsVTypes">
  <Template/>
  <TotalTime>306</TotalTime>
  <Words>794</Words>
  <Application>Microsoft Office PowerPoint</Application>
  <PresentationFormat>Widescreen</PresentationFormat>
  <Paragraphs>121</Paragraphs>
  <Slides>13</Slides>
  <Notes>12</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13</vt:i4>
      </vt:variant>
    </vt:vector>
  </HeadingPairs>
  <TitlesOfParts>
    <vt:vector size="21" baseType="lpstr">
      <vt:lpstr>Aptos</vt:lpstr>
      <vt:lpstr>Arial</vt:lpstr>
      <vt:lpstr>Calibri</vt:lpstr>
      <vt:lpstr>Courier New</vt:lpstr>
      <vt:lpstr>Title Slides</vt:lpstr>
      <vt:lpstr>End Slide</vt:lpstr>
      <vt:lpstr>Section Slides</vt:lpstr>
      <vt:lpstr>Body Slides</vt:lpstr>
      <vt:lpstr>Acute Multiple Disadvantage</vt:lpstr>
      <vt:lpstr>Introduction</vt:lpstr>
      <vt:lpstr>The cohort comprises 1,751 individuals, representing 0.22% of the BNSSG adult population (April 2024)</vt:lpstr>
      <vt:lpstr>63% of the cohort live in Bristol</vt:lpstr>
      <vt:lpstr>More prevalent in deprived areas</vt:lpstr>
      <vt:lpstr>Vulnerabilities &amp; Qualifying Criteria</vt:lpstr>
      <vt:lpstr>Prevalence of asylum seekers/refugees is 7 times higher in the multiple disadvantage cohort.</vt:lpstr>
      <vt:lpstr>Health Complexity &amp; Care Needs</vt:lpstr>
      <vt:lpstr>5 times more likely to have &gt;10 repeat prescriptions</vt:lpstr>
      <vt:lpstr>Emergency and urgent care usage</vt:lpstr>
      <vt:lpstr>DNA’s are disproportionately high relative to the cohort size of 0.2% of BNSSG.</vt:lpstr>
      <vt:lpstr>Key Insights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the title of the presentation</dc:title>
  <dc:creator>Team Yoke</dc:creator>
  <cp:lastModifiedBy>HOLLIER, Sarah (NHS BRISTOL, NORTH SOMERSET AND SOUTH GLOUCESTERSHIRE ICB - 15C)</cp:lastModifiedBy>
  <cp:revision>4</cp:revision>
  <dcterms:created xsi:type="dcterms:W3CDTF">2024-04-10T09:25:02Z</dcterms:created>
  <dcterms:modified xsi:type="dcterms:W3CDTF">2026-06-29T06:31:46Z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0x010100605315D8BC7D78458C647EB7A2414B2E</vt:lpwstr>
  </property>
</Properties>
</file>